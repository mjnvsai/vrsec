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6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6" d="100"/>
          <a:sy n="66" d="100"/>
        </p:scale>
        <p:origin x="-1422" y="-6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0860" cy="468630"/>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sz="quarter" idx="1"/>
          </p:nvPr>
        </p:nvSpPr>
        <p:spPr>
          <a:xfrm>
            <a:off x="4014100" y="0"/>
            <a:ext cx="3070860" cy="468630"/>
          </a:xfrm>
          <a:prstGeom prst="rect">
            <a:avLst/>
          </a:prstGeom>
        </p:spPr>
        <p:txBody>
          <a:bodyPr vert="horz" lIns="94046" tIns="47023" rIns="94046" bIns="47023" rtlCol="0"/>
          <a:lstStyle>
            <a:lvl1pPr algn="r">
              <a:defRPr sz="1200"/>
            </a:lvl1pPr>
          </a:lstStyle>
          <a:p>
            <a:fld id="{41C3C213-F682-41E6-AAFB-C7CB645B26C4}" type="datetimeFigureOut">
              <a:rPr lang="en-US" smtClean="0"/>
              <a:t>11/2/2021</a:t>
            </a:fld>
            <a:endParaRPr lang="en-US"/>
          </a:p>
        </p:txBody>
      </p:sp>
      <p:sp>
        <p:nvSpPr>
          <p:cNvPr id="4" name="Footer Placeholder 3"/>
          <p:cNvSpPr>
            <a:spLocks noGrp="1"/>
          </p:cNvSpPr>
          <p:nvPr>
            <p:ph type="ftr" sz="quarter" idx="2"/>
          </p:nvPr>
        </p:nvSpPr>
        <p:spPr>
          <a:xfrm>
            <a:off x="0" y="8902343"/>
            <a:ext cx="3070860" cy="468630"/>
          </a:xfrm>
          <a:prstGeom prst="rect">
            <a:avLst/>
          </a:prstGeom>
        </p:spPr>
        <p:txBody>
          <a:bodyPr vert="horz" lIns="94046" tIns="47023" rIns="94046" bIns="47023" rtlCol="0" anchor="b"/>
          <a:lstStyle>
            <a:lvl1pPr algn="l">
              <a:defRPr sz="1200"/>
            </a:lvl1pPr>
          </a:lstStyle>
          <a:p>
            <a:endParaRPr lang="en-US"/>
          </a:p>
        </p:txBody>
      </p:sp>
      <p:sp>
        <p:nvSpPr>
          <p:cNvPr id="5" name="Slide Number Placeholder 4"/>
          <p:cNvSpPr>
            <a:spLocks noGrp="1"/>
          </p:cNvSpPr>
          <p:nvPr>
            <p:ph type="sldNum" sz="quarter" idx="3"/>
          </p:nvPr>
        </p:nvSpPr>
        <p:spPr>
          <a:xfrm>
            <a:off x="4014100" y="8902343"/>
            <a:ext cx="3070860" cy="468630"/>
          </a:xfrm>
          <a:prstGeom prst="rect">
            <a:avLst/>
          </a:prstGeom>
        </p:spPr>
        <p:txBody>
          <a:bodyPr vert="horz" lIns="94046" tIns="47023" rIns="94046" bIns="47023" rtlCol="0" anchor="b"/>
          <a:lstStyle>
            <a:lvl1pPr algn="r">
              <a:defRPr sz="1200"/>
            </a:lvl1pPr>
          </a:lstStyle>
          <a:p>
            <a:fld id="{58CDFBDA-14A8-49E7-AE46-872A922B7F59}"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Chapter-1</a:t>
            </a:r>
            <a:endParaRPr lang="en-US" dirty="0"/>
          </a:p>
        </p:txBody>
      </p:sp>
      <p:sp>
        <p:nvSpPr>
          <p:cNvPr id="3" name="Subtitle 2"/>
          <p:cNvSpPr>
            <a:spLocks noGrp="1"/>
          </p:cNvSpPr>
          <p:nvPr>
            <p:ph type="subTitle" idx="1"/>
          </p:nvPr>
        </p:nvSpPr>
        <p:spPr/>
        <p:txBody>
          <a:bodyPr/>
          <a:lstStyle/>
          <a:p>
            <a:r>
              <a:rPr lang="en-US" b="1" dirty="0" smtClean="0"/>
              <a:t>The Business Intelligence Environment</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Aspects of a Business Intelligence and Analytics Platform and Strategy</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Introduction</a:t>
            </a:r>
            <a:endParaRPr lang="en-US" dirty="0"/>
          </a:p>
        </p:txBody>
      </p:sp>
      <p:sp>
        <p:nvSpPr>
          <p:cNvPr id="5" name="Content Placeholder 4"/>
          <p:cNvSpPr>
            <a:spLocks noGrp="1"/>
          </p:cNvSpPr>
          <p:nvPr>
            <p:ph idx="1"/>
          </p:nvPr>
        </p:nvSpPr>
        <p:spPr/>
        <p:txBody>
          <a:bodyPr/>
          <a:lstStyle/>
          <a:p>
            <a:pPr>
              <a:buNone/>
            </a:pPr>
            <a:r>
              <a:rPr lang="en-US" dirty="0" smtClean="0"/>
              <a:t>The whole process of business intelligence can be divided into four stages:</a:t>
            </a:r>
          </a:p>
          <a:p>
            <a:r>
              <a:rPr lang="en-US" dirty="0" smtClean="0"/>
              <a:t>Data gathering</a:t>
            </a:r>
          </a:p>
          <a:p>
            <a:r>
              <a:rPr lang="en-US" dirty="0" smtClean="0"/>
              <a:t>Data cleaning/standardization</a:t>
            </a:r>
          </a:p>
          <a:p>
            <a:r>
              <a:rPr lang="en-US" dirty="0" smtClean="0"/>
              <a:t>Analysis</a:t>
            </a:r>
          </a:p>
          <a:p>
            <a:r>
              <a:rPr lang="en-US" dirty="0" smtClean="0"/>
              <a:t>Reporting</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 Fundamentals and Requirements</a:t>
            </a:r>
            <a:endParaRPr lang="en-US" dirty="0"/>
          </a:p>
        </p:txBody>
      </p:sp>
      <p:sp>
        <p:nvSpPr>
          <p:cNvPr id="3" name="Content Placeholder 2"/>
          <p:cNvSpPr>
            <a:spLocks noGrp="1"/>
          </p:cNvSpPr>
          <p:nvPr>
            <p:ph idx="1"/>
          </p:nvPr>
        </p:nvSpPr>
        <p:spPr/>
        <p:txBody>
          <a:bodyPr/>
          <a:lstStyle/>
          <a:p>
            <a:r>
              <a:rPr lang="en-US" dirty="0" smtClean="0"/>
              <a:t>The requirements solicitation and analysis process itself creates a need for tools supporting the exploratory and documentary aspects of BI and analytics. </a:t>
            </a:r>
          </a:p>
          <a:p>
            <a:r>
              <a:rPr lang="en-US" dirty="0" smtClean="0"/>
              <a:t>These types of tools must help the analysts in understanding the business performance objectives and key value drivers for the organization</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Business Intelligence Architecture and Design</a:t>
            </a:r>
            <a:endParaRPr lang="en-US" dirty="0"/>
          </a:p>
        </p:txBody>
      </p:sp>
      <p:sp>
        <p:nvSpPr>
          <p:cNvPr id="3" name="Content Placeholder 2"/>
          <p:cNvSpPr>
            <a:spLocks noGrp="1"/>
          </p:cNvSpPr>
          <p:nvPr>
            <p:ph idx="1"/>
          </p:nvPr>
        </p:nvSpPr>
        <p:spPr/>
        <p:txBody>
          <a:bodyPr/>
          <a:lstStyle/>
          <a:p>
            <a:r>
              <a:rPr lang="en-US" dirty="0" smtClean="0"/>
              <a:t>The BI architecture will incorporate designs for the platforms to enable analysis, as well as application design, testing, and the necessary project management.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43353"/>
            <a:ext cx="9205264" cy="62917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Data Preparation</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Having identified the sources of data and developed the target data models within the data warehouse, the next component addresses the streaming of information from the originating sources into the analytical platform.</a:t>
            </a:r>
          </a:p>
          <a:p>
            <a:r>
              <a:rPr lang="en-US" dirty="0" smtClean="0"/>
              <a:t> This incorporates all aspects of preparing data for integration into a platform for reporting and analysis, including data extraction, data quality, data transformation, as well as other integration and preparation techniques such as data virtualization, change data capture, and data warehouse loading. </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Data Integration</a:t>
            </a:r>
            <a:endParaRPr lang="en-US" dirty="0"/>
          </a:p>
        </p:txBody>
      </p:sp>
      <p:sp>
        <p:nvSpPr>
          <p:cNvPr id="3" name="Content Placeholder 2"/>
          <p:cNvSpPr>
            <a:spLocks noGrp="1"/>
          </p:cNvSpPr>
          <p:nvPr>
            <p:ph idx="1"/>
          </p:nvPr>
        </p:nvSpPr>
        <p:spPr/>
        <p:txBody>
          <a:bodyPr/>
          <a:lstStyle/>
          <a:p>
            <a:r>
              <a:rPr lang="en-US" dirty="0" smtClean="0"/>
              <a:t>The original terms used for data integration were Extraction, Transformation, and Loading, or ETL. </a:t>
            </a:r>
          </a:p>
          <a:p>
            <a:r>
              <a:rPr lang="en-US" dirty="0" smtClean="0"/>
              <a:t>But these days data integration encompasses much more than these aspects of moving data from the sources to the targets.</a:t>
            </a:r>
          </a:p>
          <a:p>
            <a:r>
              <a:rPr lang="en-US" dirty="0" smtClean="0"/>
              <a:t> It involves all aspects of data sharing, which can lever the traditional ETL</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Business Intelligence Platforms</a:t>
            </a:r>
            <a:endParaRPr lang="en-US" dirty="0"/>
          </a:p>
        </p:txBody>
      </p:sp>
      <p:sp>
        <p:nvSpPr>
          <p:cNvPr id="3" name="Content Placeholder 2"/>
          <p:cNvSpPr>
            <a:spLocks noGrp="1"/>
          </p:cNvSpPr>
          <p:nvPr>
            <p:ph idx="1"/>
          </p:nvPr>
        </p:nvSpPr>
        <p:spPr/>
        <p:txBody>
          <a:bodyPr/>
          <a:lstStyle/>
          <a:p>
            <a:r>
              <a:rPr lang="en-US" dirty="0" smtClean="0"/>
              <a:t>A </a:t>
            </a:r>
            <a:r>
              <a:rPr lang="en-US" b="1" dirty="0" smtClean="0"/>
              <a:t>business intelligence</a:t>
            </a:r>
            <a:r>
              <a:rPr lang="en-US" dirty="0" smtClean="0"/>
              <a:t> (</a:t>
            </a:r>
            <a:r>
              <a:rPr lang="en-US" b="1" dirty="0" smtClean="0"/>
              <a:t>BI</a:t>
            </a:r>
            <a:r>
              <a:rPr lang="en-US" dirty="0" smtClean="0"/>
              <a:t>) </a:t>
            </a:r>
            <a:r>
              <a:rPr lang="en-US" b="1" dirty="0" smtClean="0"/>
              <a:t>platform</a:t>
            </a:r>
            <a:r>
              <a:rPr lang="en-US" dirty="0" smtClean="0"/>
              <a:t> is technology that helps businesses gather, understand, and visualize their data. It serves as the backbone of a company's </a:t>
            </a:r>
            <a:r>
              <a:rPr lang="en-US" b="1" dirty="0" smtClean="0"/>
              <a:t>business intelligence</a:t>
            </a:r>
            <a:r>
              <a:rPr lang="en-US" dirty="0" smtClean="0"/>
              <a:t> strategy, which is how a company uses information to make better decisions.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Analysis</a:t>
            </a:r>
            <a:endParaRPr lang="en-US" dirty="0"/>
          </a:p>
        </p:txBody>
      </p:sp>
      <p:sp>
        <p:nvSpPr>
          <p:cNvPr id="3" name="Content Placeholder 2"/>
          <p:cNvSpPr>
            <a:spLocks noGrp="1"/>
          </p:cNvSpPr>
          <p:nvPr>
            <p:ph idx="1"/>
          </p:nvPr>
        </p:nvSpPr>
        <p:spPr/>
        <p:txBody>
          <a:bodyPr/>
          <a:lstStyle/>
          <a:p>
            <a:r>
              <a:rPr lang="en-US" dirty="0" smtClean="0"/>
              <a:t>The ‘‘intelligence’’ in business intelligence comes from a combination of ways of aggregating, summarizing, organizing, and analyzing data, with the results presented to the knowledge consumers.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Delivery and Presentation</a:t>
            </a:r>
            <a:endParaRPr lang="en-US" dirty="0"/>
          </a:p>
        </p:txBody>
      </p:sp>
      <p:sp>
        <p:nvSpPr>
          <p:cNvPr id="3" name="Content Placeholder 2"/>
          <p:cNvSpPr>
            <a:spLocks noGrp="1"/>
          </p:cNvSpPr>
          <p:nvPr>
            <p:ph idx="1"/>
          </p:nvPr>
        </p:nvSpPr>
        <p:spPr/>
        <p:txBody>
          <a:bodyPr/>
          <a:lstStyle/>
          <a:p>
            <a:r>
              <a:rPr lang="en-US" dirty="0" smtClean="0"/>
              <a:t>Framework provides the means for developing and delivering reports, responding to ad hoc queries, as well as interactive delivery and presentation of dashboards and delivery to a diverse set of web-based, mobile, and handheld platforms.</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pic>
        <p:nvPicPr>
          <p:cNvPr id="3074" name="Picture 2"/>
          <p:cNvPicPr>
            <a:picLocks noChangeAspect="1" noChangeArrowheads="1"/>
          </p:cNvPicPr>
          <p:nvPr/>
        </p:nvPicPr>
        <p:blipFill>
          <a:blip r:embed="rId2"/>
          <a:srcRect/>
          <a:stretch>
            <a:fillRect/>
          </a:stretch>
        </p:blipFill>
        <p:spPr bwMode="auto">
          <a:xfrm>
            <a:off x="0" y="1371600"/>
            <a:ext cx="9507255" cy="4819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685800" y="409646"/>
            <a:ext cx="6172199" cy="479544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838200" y="889379"/>
            <a:ext cx="7543800" cy="513107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r>
              <a:rPr lang="en-US" dirty="0" smtClean="0"/>
              <a:t>The Organizational Business Intelligence Framework</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This incorporates the procedural approaches to soliciting requirements, developing models, and developing business analytics applications with the supplemental tools, employed by skills engineers applying techniques to use those tools.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48912" y="381000"/>
            <a:ext cx="8347905" cy="6324599"/>
          </a:xfrm>
          <a:prstGeom prst="rect">
            <a:avLst/>
          </a:prstGeom>
          <a:noFill/>
          <a:ln w="9525">
            <a:noFill/>
            <a:miter lim="800000"/>
            <a:headEnd/>
            <a:tailEnd/>
          </a:ln>
          <a:effectLst/>
        </p:spPr>
      </p:pic>
      <p:sp>
        <p:nvSpPr>
          <p:cNvPr id="5" name="TextBox 4"/>
          <p:cNvSpPr txBox="1"/>
          <p:nvPr/>
        </p:nvSpPr>
        <p:spPr>
          <a:xfrm>
            <a:off x="3124200" y="0"/>
            <a:ext cx="3570786" cy="584775"/>
          </a:xfrm>
          <a:prstGeom prst="rect">
            <a:avLst/>
          </a:prstGeom>
          <a:noFill/>
        </p:spPr>
        <p:txBody>
          <a:bodyPr wrap="none" rtlCol="0">
            <a:spAutoFit/>
          </a:bodyPr>
          <a:lstStyle/>
          <a:p>
            <a:r>
              <a:rPr lang="en-US" sz="3200" b="1" dirty="0" smtClean="0"/>
              <a:t>End-to-End Strategy</a:t>
            </a:r>
            <a:endParaRPr lang="en-US" sz="3200"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Business Process Modeling and Analytic Needs Assessment</a:t>
            </a:r>
            <a:endParaRPr lang="en-US" dirty="0"/>
          </a:p>
        </p:txBody>
      </p:sp>
      <p:sp>
        <p:nvSpPr>
          <p:cNvPr id="3" name="Content Placeholder 2"/>
          <p:cNvSpPr>
            <a:spLocks noGrp="1"/>
          </p:cNvSpPr>
          <p:nvPr>
            <p:ph idx="1"/>
          </p:nvPr>
        </p:nvSpPr>
        <p:spPr/>
        <p:txBody>
          <a:bodyPr>
            <a:normAutofit lnSpcReduction="10000"/>
          </a:bodyPr>
          <a:lstStyle/>
          <a:p>
            <a:r>
              <a:rPr lang="en-US" dirty="0" smtClean="0"/>
              <a:t>Business process modeling engages both the business people and the technologists to review the task flows of both operational and analytical business activities. </a:t>
            </a:r>
          </a:p>
          <a:p>
            <a:r>
              <a:rPr lang="en-US" dirty="0" smtClean="0"/>
              <a:t>Business process modeling and information flow modeling together expose what information a business needs and how that information moves from its sources to its destination.</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1928" y="762000"/>
            <a:ext cx="8873472" cy="556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Metadata Management</a:t>
            </a:r>
            <a:endParaRPr lang="en-US" dirty="0"/>
          </a:p>
        </p:txBody>
      </p:sp>
      <p:sp>
        <p:nvSpPr>
          <p:cNvPr id="3" name="Content Placeholder 2"/>
          <p:cNvSpPr>
            <a:spLocks noGrp="1"/>
          </p:cNvSpPr>
          <p:nvPr>
            <p:ph idx="1"/>
          </p:nvPr>
        </p:nvSpPr>
        <p:spPr/>
        <p:txBody>
          <a:bodyPr/>
          <a:lstStyle/>
          <a:p>
            <a:r>
              <a:rPr lang="en-US" dirty="0" smtClean="0"/>
              <a:t>The organic development of application systems over time has created an environment of disparate representations of source data, which complicates the process of merging and consolidation when data sets are brought into the data warehouse.</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Modeling</a:t>
            </a:r>
            <a:endParaRPr lang="en-US" dirty="0"/>
          </a:p>
        </p:txBody>
      </p:sp>
      <p:sp>
        <p:nvSpPr>
          <p:cNvPr id="3" name="Content Placeholder 2"/>
          <p:cNvSpPr>
            <a:spLocks noGrp="1"/>
          </p:cNvSpPr>
          <p:nvPr>
            <p:ph idx="1"/>
          </p:nvPr>
        </p:nvSpPr>
        <p:spPr/>
        <p:txBody>
          <a:bodyPr/>
          <a:lstStyle/>
          <a:p>
            <a:r>
              <a:rPr lang="en-US" dirty="0" smtClean="0"/>
              <a:t>Variations in original source table and file structures also complicate the data consolidation process.</a:t>
            </a:r>
          </a:p>
          <a:p>
            <a:r>
              <a:rPr lang="en-US" dirty="0" smtClean="0"/>
              <a:t>Data modeling tools are used in capturing existing source data models, molding suitable representations of domains and activities to be analyzed, as well as facilitating reports and responding to analyses and queries.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Profiling</a:t>
            </a:r>
            <a:endParaRPr lang="en-US" dirty="0"/>
          </a:p>
        </p:txBody>
      </p:sp>
      <p:sp>
        <p:nvSpPr>
          <p:cNvPr id="3" name="Content Placeholder 2"/>
          <p:cNvSpPr>
            <a:spLocks noGrp="1"/>
          </p:cNvSpPr>
          <p:nvPr>
            <p:ph idx="1"/>
          </p:nvPr>
        </p:nvSpPr>
        <p:spPr/>
        <p:txBody>
          <a:bodyPr/>
          <a:lstStyle/>
          <a:p>
            <a:r>
              <a:rPr lang="en-US" dirty="0" smtClean="0"/>
              <a:t>Data profiling refers to a number of processes used to discover metadata, evaluate the statistical characteristics of data sets, validate data against defined business rules, and document relationships between columns within a data set. </a:t>
            </a:r>
          </a:p>
          <a:p>
            <a:r>
              <a:rPr lang="en-US" dirty="0" smtClean="0"/>
              <a:t>Data profiling tools are used as part of the data discovery and assessment processes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quality</a:t>
            </a:r>
            <a:endParaRPr lang="en-US" dirty="0"/>
          </a:p>
        </p:txBody>
      </p:sp>
      <p:sp>
        <p:nvSpPr>
          <p:cNvPr id="3" name="Content Placeholder 2"/>
          <p:cNvSpPr>
            <a:spLocks noGrp="1"/>
          </p:cNvSpPr>
          <p:nvPr>
            <p:ph idx="1"/>
          </p:nvPr>
        </p:nvSpPr>
        <p:spPr/>
        <p:txBody>
          <a:bodyPr/>
          <a:lstStyle/>
          <a:p>
            <a:r>
              <a:rPr lang="en-US" dirty="0" smtClean="0"/>
              <a:t>Data quality tools are used to validate data during the data extraction and transformation phases based on rules related to client data expectations.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Rules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any operational or analytical process that is involved in running or improving a business is driven by a set of business rules. </a:t>
            </a:r>
          </a:p>
          <a:p>
            <a:r>
              <a:rPr lang="en-US" dirty="0" smtClean="0"/>
              <a:t>Whether these rules are dictated by external bodies (such as a regulatory board), by internal directives (such as an executive process leadership group), or by the way that business is done within an industry, there is a method to separate the rules that drive a process from the process itself.</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Management System</a:t>
            </a:r>
            <a:endParaRPr lang="en-US" dirty="0"/>
          </a:p>
        </p:txBody>
      </p:sp>
      <p:sp>
        <p:nvSpPr>
          <p:cNvPr id="3" name="Content Placeholder 2"/>
          <p:cNvSpPr>
            <a:spLocks noGrp="1"/>
          </p:cNvSpPr>
          <p:nvPr>
            <p:ph idx="1"/>
          </p:nvPr>
        </p:nvSpPr>
        <p:spPr/>
        <p:txBody>
          <a:bodyPr/>
          <a:lstStyle/>
          <a:p>
            <a:r>
              <a:rPr lang="en-US" dirty="0" smtClean="0"/>
              <a:t>the BI environment relies on the use of a database management system (DBMS) for information management.</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Text Analysis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Data organized within a formal representation that conforms to defined types and structures is called structured data;</a:t>
            </a:r>
          </a:p>
          <a:p>
            <a:r>
              <a:rPr lang="en-US" dirty="0" smtClean="0"/>
              <a:t> information that is incorporated into a document (or framework) that has some basic structure and taxonomy are said to be semi-structured, in that they exhibit some structure that is looser than the standard pairing of data within a database table.</a:t>
            </a:r>
          </a:p>
          <a:p>
            <a:r>
              <a:rPr lang="en-US" dirty="0" smtClean="0"/>
              <a:t> Free-form text is said to be unstructured data.</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219199" y="411480"/>
            <a:ext cx="6739467" cy="606552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Predictive analytics</a:t>
            </a:r>
            <a:endParaRPr lang="en-US" dirty="0"/>
          </a:p>
        </p:txBody>
      </p:sp>
      <p:sp>
        <p:nvSpPr>
          <p:cNvPr id="3" name="Content Placeholder 2"/>
          <p:cNvSpPr>
            <a:spLocks noGrp="1"/>
          </p:cNvSpPr>
          <p:nvPr>
            <p:ph idx="1"/>
          </p:nvPr>
        </p:nvSpPr>
        <p:spPr/>
        <p:txBody>
          <a:bodyPr/>
          <a:lstStyle/>
          <a:p>
            <a:r>
              <a:rPr lang="en-US" dirty="0" smtClean="0"/>
              <a:t>Predictive analytics use statistical analysis as well as data mining techniques such as clustering, classification and segmentation, and pattern detection. </a:t>
            </a:r>
          </a:p>
          <a:p>
            <a:r>
              <a:rPr lang="en-US" dirty="0" smtClean="0"/>
              <a:t>Predictive analytics processes are rapidly becoming a necessary business analytics component.</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Dashboards and Other Visualization</a:t>
            </a:r>
            <a:br>
              <a:rPr lang="en-US" dirty="0" smtClean="0"/>
            </a:br>
            <a:r>
              <a:rPr lang="en-US" dirty="0" smtClean="0"/>
              <a:t>Techniques</a:t>
            </a:r>
            <a:endParaRPr lang="en-US" dirty="0"/>
          </a:p>
        </p:txBody>
      </p:sp>
      <p:sp>
        <p:nvSpPr>
          <p:cNvPr id="3" name="Content Placeholder 2"/>
          <p:cNvSpPr>
            <a:spLocks noGrp="1"/>
          </p:cNvSpPr>
          <p:nvPr>
            <p:ph idx="1"/>
          </p:nvPr>
        </p:nvSpPr>
        <p:spPr/>
        <p:txBody>
          <a:bodyPr>
            <a:normAutofit lnSpcReduction="10000"/>
          </a:bodyPr>
          <a:lstStyle/>
          <a:p>
            <a:r>
              <a:rPr lang="en-US" dirty="0" smtClean="0"/>
              <a:t>Information packaging and delivery provides for assembling reports and documents in the best format for the business client and the means for delivering all the information packages to their destinations in a timely manner.</a:t>
            </a:r>
          </a:p>
          <a:p>
            <a:r>
              <a:rPr lang="en-US" dirty="0" smtClean="0"/>
              <a:t>Senior executives often refer to </a:t>
            </a:r>
            <a:r>
              <a:rPr lang="en-US" b="1" dirty="0" smtClean="0"/>
              <a:t>dashboards and scorecards </a:t>
            </a:r>
            <a:r>
              <a:rPr lang="en-US" dirty="0" smtClean="0"/>
              <a:t>to provide a high level review of key performance indicator scores. </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ontent.altexsoft.com/media/2019/09/word-image-33.png"/>
          <p:cNvPicPr>
            <a:picLocks noChangeAspect="1" noChangeArrowheads="1"/>
          </p:cNvPicPr>
          <p:nvPr/>
        </p:nvPicPr>
        <p:blipFill>
          <a:blip r:embed="rId2"/>
          <a:srcRect/>
          <a:stretch>
            <a:fillRect/>
          </a:stretch>
        </p:blipFill>
        <p:spPr bwMode="auto">
          <a:xfrm>
            <a:off x="0" y="1371599"/>
            <a:ext cx="9144000" cy="3815579"/>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System/Network Management</a:t>
            </a:r>
            <a:endParaRPr lang="en-US" dirty="0"/>
          </a:p>
        </p:txBody>
      </p:sp>
      <p:sp>
        <p:nvSpPr>
          <p:cNvPr id="3" name="Content Placeholder 2"/>
          <p:cNvSpPr>
            <a:spLocks noGrp="1"/>
          </p:cNvSpPr>
          <p:nvPr>
            <p:ph idx="1"/>
          </p:nvPr>
        </p:nvSpPr>
        <p:spPr/>
        <p:txBody>
          <a:bodyPr/>
          <a:lstStyle/>
          <a:p>
            <a:r>
              <a:rPr lang="en-US" dirty="0" smtClean="0"/>
              <a:t>hardware and software architecture, the more mundane aspects of network and system management are not to be ignored.</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Data Security</a:t>
            </a:r>
            <a:endParaRPr lang="en-US" dirty="0"/>
          </a:p>
        </p:txBody>
      </p:sp>
      <p:sp>
        <p:nvSpPr>
          <p:cNvPr id="3" name="Content Placeholder 2"/>
          <p:cNvSpPr>
            <a:spLocks noGrp="1"/>
          </p:cNvSpPr>
          <p:nvPr>
            <p:ph idx="1"/>
          </p:nvPr>
        </p:nvSpPr>
        <p:spPr>
          <a:xfrm>
            <a:off x="457200" y="1600200"/>
            <a:ext cx="8229600" cy="5105400"/>
          </a:xfrm>
        </p:spPr>
        <p:txBody>
          <a:bodyPr>
            <a:normAutofit fontScale="77500" lnSpcReduction="20000"/>
          </a:bodyPr>
          <a:lstStyle/>
          <a:p>
            <a:r>
              <a:rPr lang="en-US" dirty="0" smtClean="0"/>
              <a:t>A security framework incorporates: n Hardware and software firewalls for managing network traffic;</a:t>
            </a:r>
          </a:p>
          <a:p>
            <a:r>
              <a:rPr lang="en-US" dirty="0" smtClean="0"/>
              <a:t>Encryption of data at any point that data is ‘‘in the clear,’’ or moving between systems such as data integration, consolidation, or as reports or notifications; </a:t>
            </a:r>
          </a:p>
          <a:p>
            <a:r>
              <a:rPr lang="en-US" dirty="0" smtClean="0"/>
              <a:t>Intrusion protection, to prevent outsiders from breaking into the system; these applications may include rule-based and behavior-based monitoring to look for suspicious network behavior;</a:t>
            </a:r>
          </a:p>
          <a:p>
            <a:r>
              <a:rPr lang="en-US" dirty="0" smtClean="0"/>
              <a:t> Policies for managing or restricting client access to specific data sets within the RDBMS, whether on the table, column, or row level; and </a:t>
            </a:r>
          </a:p>
          <a:p>
            <a:r>
              <a:rPr lang="en-US" dirty="0" smtClean="0"/>
              <a:t> Policies for controlling access to data and security for analytical and interface tools.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endParaRPr lang="en-US" dirty="0"/>
          </a:p>
        </p:txBody>
      </p:sp>
      <p:sp>
        <p:nvSpPr>
          <p:cNvPr id="5" name="Subtitle 4"/>
          <p:cNvSpPr>
            <a:spLocks noGrp="1"/>
          </p:cNvSpPr>
          <p:nvPr>
            <p:ph type="subTitle" idx="1"/>
          </p:nvPr>
        </p:nvSpPr>
        <p:spPr/>
        <p:txBody>
          <a:bodyPr/>
          <a:lstStyle/>
          <a:p>
            <a:r>
              <a:rPr lang="en-US" dirty="0" smtClean="0"/>
              <a:t>Services and System Evolution</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endParaRPr lang="en-US"/>
          </a:p>
        </p:txBody>
      </p:sp>
      <p:sp>
        <p:nvSpPr>
          <p:cNvPr id="7" name="Subtitle 6"/>
          <p:cNvSpPr>
            <a:spLocks noGrp="1"/>
          </p:cNvSpPr>
          <p:nvPr>
            <p:ph type="subTitle" idx="1"/>
          </p:nvPr>
        </p:nvSpPr>
        <p:spPr/>
        <p:txBody>
          <a:bodyPr/>
          <a:lstStyle/>
          <a:p>
            <a:r>
              <a:rPr lang="en-US" b="1" dirty="0" smtClean="0"/>
              <a:t>Business Processes and Information Flow</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92500"/>
          </a:bodyPr>
          <a:lstStyle/>
          <a:p>
            <a:r>
              <a:rPr lang="en-US" dirty="0" smtClean="0"/>
              <a:t>Business applications exist for running the business, while business intelligence (BI) applications report performance measures reflecting how well the business is run.</a:t>
            </a:r>
          </a:p>
          <a:p>
            <a:r>
              <a:rPr lang="en-US" dirty="0" smtClean="0"/>
              <a:t> There should be a logical sequence to application development that begins with an assessment of the scope of a particular desired outcome, usually related to an existing (or developing) process employed in operating the business.</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Analytical Information Needs and Information Flows</a:t>
            </a:r>
            <a:endParaRPr lang="en-US" dirty="0"/>
          </a:p>
        </p:txBody>
      </p:sp>
      <p:sp>
        <p:nvSpPr>
          <p:cNvPr id="3" name="Content Placeholder 2"/>
          <p:cNvSpPr>
            <a:spLocks noGrp="1"/>
          </p:cNvSpPr>
          <p:nvPr>
            <p:ph idx="1"/>
          </p:nvPr>
        </p:nvSpPr>
        <p:spPr>
          <a:xfrm>
            <a:off x="457200" y="1600200"/>
            <a:ext cx="8229600" cy="5257800"/>
          </a:xfrm>
        </p:spPr>
        <p:txBody>
          <a:bodyPr>
            <a:normAutofit fontScale="85000" lnSpcReduction="20000"/>
          </a:bodyPr>
          <a:lstStyle/>
          <a:p>
            <a:r>
              <a:rPr lang="en-US" dirty="0" smtClean="0"/>
              <a:t>A good way to motivate the discussion of business process mapping and information flows is looking at a specific example, such as analyzing customer activities for the purposes of creating customer profiles. </a:t>
            </a:r>
          </a:p>
          <a:p>
            <a:r>
              <a:rPr lang="en-US" dirty="0" smtClean="0"/>
              <a:t>First, you must determine what information will be required to do this analysis, and then determine where the data sets will be sourced, as well as how the information is to be extracted, transformed in preparation for integration into the analytical platform, and how that information is to be organized for analysis. </a:t>
            </a:r>
          </a:p>
          <a:p>
            <a:r>
              <a:rPr lang="en-US" dirty="0" smtClean="0"/>
              <a:t>Next, you must be able to consider rapid methods for integrating new data sets when it is determined that they are to be included in the analytical environment.</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 The Value of Modeling Information Flow</a:t>
            </a:r>
            <a:endParaRPr lang="en-US" dirty="0"/>
          </a:p>
        </p:txBody>
      </p:sp>
      <p:sp>
        <p:nvSpPr>
          <p:cNvPr id="3" name="Content Placeholder 2"/>
          <p:cNvSpPr>
            <a:spLocks noGrp="1"/>
          </p:cNvSpPr>
          <p:nvPr>
            <p:ph idx="1"/>
          </p:nvPr>
        </p:nvSpPr>
        <p:spPr>
          <a:xfrm>
            <a:off x="457200" y="1600200"/>
            <a:ext cx="8229600" cy="5257800"/>
          </a:xfrm>
        </p:spPr>
        <p:txBody>
          <a:bodyPr>
            <a:normAutofit fontScale="85000" lnSpcReduction="20000"/>
          </a:bodyPr>
          <a:lstStyle/>
          <a:p>
            <a:r>
              <a:rPr lang="en-US" dirty="0" smtClean="0"/>
              <a:t>Even when considering the creation of an analytical environment, there is value in understanding the ins and outs of the transactional and operational business processes and their corresponding application and information flows. </a:t>
            </a:r>
          </a:p>
          <a:p>
            <a:r>
              <a:rPr lang="en-US" dirty="0" smtClean="0"/>
              <a:t>The results of a BI activity are not limited to a company’s interaction with customers; those analyses can generate actionable knowledge as a result of manipulating data sets accumulated from a large collection of data producers, such as internal (i.e., within the organization) and external (i.e., cross-company) business applications. </a:t>
            </a:r>
          </a:p>
          <a:p>
            <a:r>
              <a:rPr lang="en-US" dirty="0" smtClean="0"/>
              <a:t>As an example, consider a supply-chain interaction between your company and a collection of product suppliers.</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Process Design Versus Application Implementation</a:t>
            </a:r>
            <a:endParaRPr lang="en-US" dirty="0"/>
          </a:p>
        </p:txBody>
      </p:sp>
      <p:sp>
        <p:nvSpPr>
          <p:cNvPr id="3" name="Content Placeholder 2"/>
          <p:cNvSpPr>
            <a:spLocks noGrp="1"/>
          </p:cNvSpPr>
          <p:nvPr>
            <p:ph idx="1"/>
          </p:nvPr>
        </p:nvSpPr>
        <p:spPr/>
        <p:txBody>
          <a:bodyPr/>
          <a:lstStyle/>
          <a:p>
            <a:r>
              <a:rPr lang="en-US" dirty="0" smtClean="0"/>
              <a:t>To remedy the eventual effects of this development process, an important part of the methodology of designing and implementing a business application is modeling the business process as a way of guiding the algorithmic implementation.</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Benefits of the Business Process Model</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There are some major benefits for building this model, such as: </a:t>
            </a:r>
          </a:p>
          <a:p>
            <a:pPr lvl="1"/>
            <a:r>
              <a:rPr lang="en-US" dirty="0" smtClean="0"/>
              <a:t>Understanding an information flow provides logical documentation for the business process;</a:t>
            </a:r>
          </a:p>
          <a:p>
            <a:pPr lvl="1"/>
            <a:r>
              <a:rPr lang="en-US" dirty="0" smtClean="0"/>
              <a:t> The review may uncover additional opportunities for adding value through different kinds of analytical processing; </a:t>
            </a:r>
          </a:p>
          <a:p>
            <a:pPr lvl="1"/>
            <a:r>
              <a:rPr lang="en-US" dirty="0" smtClean="0"/>
              <a:t> Business modeling process helps in understanding business consumer data use; </a:t>
            </a:r>
          </a:p>
          <a:p>
            <a:pPr lvl="1"/>
            <a:r>
              <a:rPr lang="en-US" dirty="0" smtClean="0"/>
              <a:t>and  Business modeling helps in communicating user requirements to the implementation team.</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cdn-images.visual-paradigm.com/tutorials/frombptouc_screenshots/06-use-case-diagram-sample.png"/>
          <p:cNvPicPr>
            <a:picLocks noChangeAspect="1" noChangeArrowheads="1"/>
          </p:cNvPicPr>
          <p:nvPr/>
        </p:nvPicPr>
        <p:blipFill>
          <a:blip r:embed="rId2"/>
          <a:srcRect/>
          <a:stretch>
            <a:fillRect/>
          </a:stretch>
        </p:blipFill>
        <p:spPr bwMode="auto">
          <a:xfrm>
            <a:off x="226834" y="609600"/>
            <a:ext cx="8917166" cy="54102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https://www.mdpi.com/applsci/applsci-09-03313/article_deploy/html/images/applsci-09-03313-g001.png"/>
          <p:cNvPicPr>
            <a:picLocks noChangeAspect="1" noChangeArrowheads="1"/>
          </p:cNvPicPr>
          <p:nvPr/>
        </p:nvPicPr>
        <p:blipFill>
          <a:blip r:embed="rId2"/>
          <a:srcRect/>
          <a:stretch>
            <a:fillRect/>
          </a:stretch>
        </p:blipFill>
        <p:spPr bwMode="auto">
          <a:xfrm>
            <a:off x="381000" y="533400"/>
            <a:ext cx="8763000" cy="58674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endParaRPr lang="en-US"/>
          </a:p>
        </p:txBody>
      </p:sp>
      <p:sp>
        <p:nvSpPr>
          <p:cNvPr id="5" name="Subtitle 4"/>
          <p:cNvSpPr>
            <a:spLocks noGrp="1"/>
          </p:cNvSpPr>
          <p:nvPr>
            <p:ph type="subTitle" idx="1"/>
          </p:nvPr>
        </p:nvSpPr>
        <p:spPr/>
        <p:txBody>
          <a:bodyPr/>
          <a:lstStyle/>
          <a:p>
            <a:r>
              <a:rPr lang="en-US" dirty="0" smtClean="0"/>
              <a:t>Information Processing and Information Flow</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  Transaction Processing</a:t>
            </a:r>
          </a:p>
          <a:p>
            <a:r>
              <a:rPr lang="en-US" dirty="0" smtClean="0"/>
              <a:t>      Operational Processing</a:t>
            </a:r>
          </a:p>
          <a:p>
            <a:r>
              <a:rPr lang="en-US" dirty="0" smtClean="0"/>
              <a:t>      Batch Processing</a:t>
            </a:r>
          </a:p>
          <a:p>
            <a:r>
              <a:rPr lang="en-US" dirty="0" smtClean="0"/>
              <a:t>      Analytical Processing</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Processing</a:t>
            </a:r>
            <a:endParaRPr lang="en-US" dirty="0"/>
          </a:p>
        </p:txBody>
      </p:sp>
      <p:sp>
        <p:nvSpPr>
          <p:cNvPr id="3" name="Content Placeholder 2"/>
          <p:cNvSpPr>
            <a:spLocks noGrp="1"/>
          </p:cNvSpPr>
          <p:nvPr>
            <p:ph idx="1"/>
          </p:nvPr>
        </p:nvSpPr>
        <p:spPr/>
        <p:txBody>
          <a:bodyPr/>
          <a:lstStyle/>
          <a:p>
            <a:r>
              <a:rPr lang="en-US" dirty="0" smtClean="0"/>
              <a:t>Operations in a transaction processing system are interactions between a user and a computer system where there is the perception of an immediate response from the system to the user’s requests.</a:t>
            </a:r>
          </a:p>
          <a:p>
            <a:r>
              <a:rPr lang="en-US" dirty="0" smtClean="0"/>
              <a:t> A commonly encountered example of transaction processing is the use of an automated teller machine (ATM)</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ATM example</a:t>
            </a:r>
            <a:endParaRPr lang="en-US" dirty="0"/>
          </a:p>
        </p:txBody>
      </p:sp>
      <p:pic>
        <p:nvPicPr>
          <p:cNvPr id="55298" name="Picture 2"/>
          <p:cNvPicPr>
            <a:picLocks noChangeAspect="1" noChangeArrowheads="1"/>
          </p:cNvPicPr>
          <p:nvPr/>
        </p:nvPicPr>
        <p:blipFill>
          <a:blip r:embed="rId2"/>
          <a:srcRect/>
          <a:stretch>
            <a:fillRect/>
          </a:stretch>
        </p:blipFill>
        <p:spPr bwMode="auto">
          <a:xfrm>
            <a:off x="838200" y="1254493"/>
            <a:ext cx="7568717" cy="5603507"/>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Operational Processing</a:t>
            </a:r>
            <a:endParaRPr lang="en-US" dirty="0"/>
          </a:p>
        </p:txBody>
      </p:sp>
      <p:sp>
        <p:nvSpPr>
          <p:cNvPr id="3" name="Content Placeholder 2"/>
          <p:cNvSpPr>
            <a:spLocks noGrp="1"/>
          </p:cNvSpPr>
          <p:nvPr>
            <p:ph idx="1"/>
          </p:nvPr>
        </p:nvSpPr>
        <p:spPr/>
        <p:txBody>
          <a:bodyPr/>
          <a:lstStyle/>
          <a:p>
            <a:r>
              <a:rPr lang="en-US" dirty="0" smtClean="0"/>
              <a:t>A business or </a:t>
            </a:r>
            <a:r>
              <a:rPr lang="en-US" b="1" dirty="0" smtClean="0"/>
              <a:t>operational process</a:t>
            </a:r>
            <a:r>
              <a:rPr lang="en-US" dirty="0" smtClean="0"/>
              <a:t> is an organized set of activities or tasks that produces a specific service or product.</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56322" name="Picture 2" descr="https://www.researchgate.net/profile/Recep_Dereli/publication/235351832/figure/fig9/AS:299740588724231@1448475133334/Process-flow-diagram-for-a-potato-chips-industry.png"/>
          <p:cNvPicPr>
            <a:picLocks noChangeAspect="1" noChangeArrowheads="1"/>
          </p:cNvPicPr>
          <p:nvPr/>
        </p:nvPicPr>
        <p:blipFill>
          <a:blip r:embed="rId2"/>
          <a:srcRect/>
          <a:stretch>
            <a:fillRect/>
          </a:stretch>
        </p:blipFill>
        <p:spPr bwMode="auto">
          <a:xfrm>
            <a:off x="457200" y="2514600"/>
            <a:ext cx="8382000" cy="32004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Batch Processing</a:t>
            </a:r>
            <a:endParaRPr lang="en-US" dirty="0"/>
          </a:p>
        </p:txBody>
      </p:sp>
      <p:sp>
        <p:nvSpPr>
          <p:cNvPr id="3" name="Content Placeholder 2"/>
          <p:cNvSpPr>
            <a:spLocks noGrp="1"/>
          </p:cNvSpPr>
          <p:nvPr>
            <p:ph idx="1"/>
          </p:nvPr>
        </p:nvSpPr>
        <p:spPr/>
        <p:txBody>
          <a:bodyPr>
            <a:normAutofit fontScale="92500"/>
          </a:bodyPr>
          <a:lstStyle/>
          <a:p>
            <a:r>
              <a:rPr lang="en-US" dirty="0" smtClean="0"/>
              <a:t>In contrast with transaction processing, batch processing takes collections of sequences of similar operations that are to be executed in batches (hence the name). </a:t>
            </a:r>
          </a:p>
          <a:p>
            <a:r>
              <a:rPr lang="en-US" dirty="0" smtClean="0"/>
              <a:t>Although both transaction processing and batch processing execute a series of operations, batch processing differs from transaction processing in terms of information flow in the granularity of application of each processing stage.</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Example</a:t>
            </a:r>
            <a:endParaRPr lang="en-US" dirty="0"/>
          </a:p>
        </p:txBody>
      </p:sp>
      <p:pic>
        <p:nvPicPr>
          <p:cNvPr id="61443" name="Picture 3"/>
          <p:cNvPicPr>
            <a:picLocks noChangeAspect="1" noChangeArrowheads="1"/>
          </p:cNvPicPr>
          <p:nvPr/>
        </p:nvPicPr>
        <p:blipFill>
          <a:blip r:embed="rId2"/>
          <a:srcRect/>
          <a:stretch>
            <a:fillRect/>
          </a:stretch>
        </p:blipFill>
        <p:spPr bwMode="auto">
          <a:xfrm>
            <a:off x="1981200" y="990600"/>
            <a:ext cx="5274843" cy="53340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Analytical Processing</a:t>
            </a:r>
            <a:endParaRPr lang="en-US" dirty="0"/>
          </a:p>
        </p:txBody>
      </p:sp>
      <p:sp>
        <p:nvSpPr>
          <p:cNvPr id="3" name="Content Placeholder 2"/>
          <p:cNvSpPr>
            <a:spLocks noGrp="1"/>
          </p:cNvSpPr>
          <p:nvPr>
            <p:ph idx="1"/>
          </p:nvPr>
        </p:nvSpPr>
        <p:spPr/>
        <p:txBody>
          <a:bodyPr/>
          <a:lstStyle/>
          <a:p>
            <a:r>
              <a:rPr lang="en-US" dirty="0" smtClean="0"/>
              <a:t>Analytical processing involves the interaction between analysts and collections of aggregated data that may have been reformulated into alternate representational forms as a means for improved analytical performance.</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3600" dirty="0" smtClean="0"/>
              <a:t>analytics processing in the next-generation data warehouse platform</a:t>
            </a:r>
            <a:r>
              <a:rPr lang="en-US" dirty="0" smtClean="0"/>
              <a:t>. </a:t>
            </a:r>
            <a:endParaRPr lang="en-US" dirty="0"/>
          </a:p>
        </p:txBody>
      </p:sp>
      <p:pic>
        <p:nvPicPr>
          <p:cNvPr id="63490" name="Picture 2"/>
          <p:cNvPicPr>
            <a:picLocks noChangeAspect="1" noChangeArrowheads="1"/>
          </p:cNvPicPr>
          <p:nvPr/>
        </p:nvPicPr>
        <p:blipFill>
          <a:blip r:embed="rId2"/>
          <a:srcRect/>
          <a:stretch>
            <a:fillRect/>
          </a:stretch>
        </p:blipFill>
        <p:spPr bwMode="auto">
          <a:xfrm>
            <a:off x="838200" y="1218375"/>
            <a:ext cx="8109723" cy="480142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a:srcRect/>
          <a:stretch>
            <a:fillRect/>
          </a:stretch>
        </p:blipFill>
        <p:spPr bwMode="auto">
          <a:xfrm>
            <a:off x="1447800" y="838200"/>
            <a:ext cx="4714875" cy="5159986"/>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r>
              <a:rPr lang="en-US" dirty="0" smtClean="0"/>
              <a:t>The Information Flow Model</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This will expose how both information and control are shared and propagated through the business application.</a:t>
            </a:r>
          </a:p>
          <a:p>
            <a:r>
              <a:rPr lang="en-US" dirty="0" smtClean="0"/>
              <a:t> It is useful to have a method for describing the way data propagates through a system,</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Information Flow: Processing Stages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Information Flow: Directed Channels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Payload Characteristics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b="1" dirty="0" smtClean="0"/>
              <a:t>Data Requirements Analysis</a:t>
            </a:r>
            <a:r>
              <a:rPr lang="en-US" dirty="0" smtClean="0"/>
              <a:t/>
            </a:r>
            <a:br>
              <a:rPr lang="en-US" dirty="0" smtClean="0"/>
            </a:br>
            <a:endParaRPr lang="en-US" dirty="0"/>
          </a:p>
        </p:txBody>
      </p:sp>
      <p:sp>
        <p:nvSpPr>
          <p:cNvPr id="5" name="Subtitle 4"/>
          <p:cNvSpPr>
            <a:spLocks noGrp="1"/>
          </p:cNvSpPr>
          <p:nvPr>
            <p:ph type="subTitle" idx="1"/>
          </p:nvPr>
        </p:nvSpPr>
        <p:spPr/>
        <p:txBody>
          <a:bodyPr/>
          <a:lstStyle/>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endParaRPr lang="en-US"/>
          </a:p>
        </p:txBody>
      </p:sp>
      <p:sp>
        <p:nvSpPr>
          <p:cNvPr id="5" name="Subtitle 4"/>
          <p:cNvSpPr>
            <a:spLocks noGrp="1"/>
          </p:cNvSpPr>
          <p:nvPr>
            <p:ph type="subTitle" idx="1"/>
          </p:nvPr>
        </p:nvSpPr>
        <p:spPr/>
        <p:txBody>
          <a:bodyPr/>
          <a:lstStyle/>
          <a:p>
            <a:r>
              <a:rPr lang="en-US" dirty="0" smtClean="0"/>
              <a:t>Introduction</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When the key stakeholders in the organization have agreed to pursue a business intelligence (BI), reporting, and analytics strategy, it is difficult to resist the urge to immediately begin evaluating tools for the purposes of acquisition and deployment.</a:t>
            </a:r>
          </a:p>
          <a:p>
            <a:r>
              <a:rPr lang="en-US" dirty="0" smtClean="0"/>
              <a:t> The process of acquiring BI tools acquisition is well-defined, with clearly-defined goals, tasks, and measurable outcomes. </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Uses of Information</a:t>
            </a:r>
            <a:endParaRPr lang="en-US" dirty="0"/>
          </a:p>
        </p:txBody>
      </p:sp>
      <p:sp>
        <p:nvSpPr>
          <p:cNvPr id="3" name="Content Placeholder 2"/>
          <p:cNvSpPr>
            <a:spLocks noGrp="1"/>
          </p:cNvSpPr>
          <p:nvPr>
            <p:ph idx="1"/>
          </p:nvPr>
        </p:nvSpPr>
        <p:spPr/>
        <p:txBody>
          <a:bodyPr/>
          <a:lstStyle/>
          <a:p>
            <a:r>
              <a:rPr lang="en-US" dirty="0" smtClean="0"/>
              <a:t>there is a wide variety and number of consumers of BI and analytics across the organization. </a:t>
            </a:r>
          </a:p>
          <a:p>
            <a:r>
              <a:rPr lang="en-US" dirty="0" smtClean="0"/>
              <a:t>Some of these consumers are more casual than others when it comes to reporting and analytics, but one common theme among the different types is the use of the information to inform and influence decision-making. </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256116" y="2209800"/>
            <a:ext cx="8887884" cy="39624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2519</TotalTime>
  <Words>1903</Words>
  <Application>Microsoft Office PowerPoint</Application>
  <PresentationFormat>On-screen Show (4:3)</PresentationFormat>
  <Paragraphs>123</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Chapter-1</vt:lpstr>
      <vt:lpstr>Aspects of a Business Intelligence and Analytics Platform and Strategy</vt:lpstr>
      <vt:lpstr>Introduction</vt:lpstr>
      <vt:lpstr>1. Fundamentals and Requirements</vt:lpstr>
      <vt:lpstr>2. Business Intelligence Architecture and Design</vt:lpstr>
      <vt:lpstr>Slide 6</vt:lpstr>
      <vt:lpstr>3. Data Preparation</vt:lpstr>
      <vt:lpstr>4. Data Integration</vt:lpstr>
      <vt:lpstr>5. Business Intelligence Platforms</vt:lpstr>
      <vt:lpstr>6. Analysis</vt:lpstr>
      <vt:lpstr>7. Delivery and Presentation</vt:lpstr>
      <vt:lpstr>Case Study</vt:lpstr>
      <vt:lpstr>Slide 13</vt:lpstr>
      <vt:lpstr>Slide 14</vt:lpstr>
      <vt:lpstr>Slide 15</vt:lpstr>
      <vt:lpstr>Introduction</vt:lpstr>
      <vt:lpstr>Slide 17</vt:lpstr>
      <vt:lpstr>Business Process Modeling and Analytic Needs Assessment</vt:lpstr>
      <vt:lpstr>Slide 19</vt:lpstr>
      <vt:lpstr>Metadata Management</vt:lpstr>
      <vt:lpstr>Data Modeling</vt:lpstr>
      <vt:lpstr>Data Profiling</vt:lpstr>
      <vt:lpstr>Data quality</vt:lpstr>
      <vt:lpstr>Business Rules</vt:lpstr>
      <vt:lpstr>Database Management System</vt:lpstr>
      <vt:lpstr>Text Analysis</vt:lpstr>
      <vt:lpstr>Slide 27</vt:lpstr>
      <vt:lpstr>Predictive analytics</vt:lpstr>
      <vt:lpstr>Dashboards and Other Visualization Techniques</vt:lpstr>
      <vt:lpstr>Slide 30</vt:lpstr>
      <vt:lpstr>System/Network Management</vt:lpstr>
      <vt:lpstr> Data Security</vt:lpstr>
      <vt:lpstr>Slide 33</vt:lpstr>
      <vt:lpstr>Slide 34</vt:lpstr>
      <vt:lpstr>Introduction</vt:lpstr>
      <vt:lpstr>Analytical Information Needs and Information Flows</vt:lpstr>
      <vt:lpstr>1. The Value of Modeling Information Flow</vt:lpstr>
      <vt:lpstr>2. Process Design Versus Application Implementation</vt:lpstr>
      <vt:lpstr>3. Benefits of the Business Process Model</vt:lpstr>
      <vt:lpstr>Slide 40</vt:lpstr>
      <vt:lpstr>Slide 41</vt:lpstr>
      <vt:lpstr>Slide 42</vt:lpstr>
      <vt:lpstr>Introduction</vt:lpstr>
      <vt:lpstr>Transaction Processing</vt:lpstr>
      <vt:lpstr>ATM example</vt:lpstr>
      <vt:lpstr>Operational Processing</vt:lpstr>
      <vt:lpstr>Example</vt:lpstr>
      <vt:lpstr> Batch Processing</vt:lpstr>
      <vt:lpstr>Example</vt:lpstr>
      <vt:lpstr>Analytical Processing</vt:lpstr>
      <vt:lpstr>analytics processing in the next-generation data warehouse platform. </vt:lpstr>
      <vt:lpstr>Slide 52</vt:lpstr>
      <vt:lpstr>Slide 53</vt:lpstr>
      <vt:lpstr>Introduction</vt:lpstr>
      <vt:lpstr>Information Flow: Processing Stages</vt:lpstr>
      <vt:lpstr>Information Flow: Directed Channels</vt:lpstr>
      <vt:lpstr>Data Payload Characteristics</vt:lpstr>
      <vt:lpstr>Data Requirements Analysis </vt:lpstr>
      <vt:lpstr>Slide 59</vt:lpstr>
      <vt:lpstr>Slide 60</vt:lpstr>
      <vt:lpstr>Business Uses of Information</vt:lpstr>
      <vt:lpstr>Slide 62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Chapter-1</dc:title>
  <dc:creator>APSSDC</dc:creator>
  <cp:lastModifiedBy>jaya</cp:lastModifiedBy>
  <cp:revision>66</cp:revision>
  <dcterms:created xsi:type="dcterms:W3CDTF">2006-08-16T00:00:00Z</dcterms:created>
  <dcterms:modified xsi:type="dcterms:W3CDTF">2021-11-02T15:23:19Z</dcterms:modified>
</cp:coreProperties>
</file>