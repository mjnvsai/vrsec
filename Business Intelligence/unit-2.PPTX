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3" r:id="rId17"/>
    <p:sldId id="274" r:id="rId18"/>
    <p:sldId id="276" r:id="rId19"/>
    <p:sldId id="277" r:id="rId20"/>
    <p:sldId id="278" r:id="rId21"/>
    <p:sldId id="279" r:id="rId22"/>
    <p:sldId id="280" r:id="rId23"/>
    <p:sldId id="283" r:id="rId24"/>
    <p:sldId id="284" r:id="rId25"/>
    <p:sldId id="285" r:id="rId26"/>
    <p:sldId id="281" r:id="rId27"/>
    <p:sldId id="28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44A028-B8F1-47AD-8A09-04D15B075B03}" type="datetimeFigureOut">
              <a:rPr lang="en-US" smtClean="0"/>
              <a:t>2/14/2023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51D7F4-8C6D-443B-8DB1-1A108201F7EF}"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651D7F4-8C6D-443B-8DB1-1A108201F7EF}" type="slidenum">
              <a:rPr lang="en-US" smtClean="0"/>
              <a:t>24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2/14/2023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Planning for Success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The critical factors you must know for the planning and execution of a successful BI program.</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Organizational Preparedness for Business Intelligence and Analytics</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Organizational Preparedness for Business Intelligence and Analytics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What is meant by organizational preparedness?</a:t>
            </a:r>
          </a:p>
          <a:p>
            <a:r>
              <a:rPr lang="en-US" dirty="0" smtClean="0"/>
              <a:t> At the highest level, it is a state within the organization in which both management and staff are prepared to:</a:t>
            </a:r>
          </a:p>
          <a:p>
            <a:pPr lvl="1"/>
            <a:r>
              <a:rPr lang="en-US" dirty="0" smtClean="0"/>
              <a:t>Execute performance improvement measurement</a:t>
            </a:r>
          </a:p>
          <a:p>
            <a:pPr lvl="1"/>
            <a:r>
              <a:rPr lang="en-US" dirty="0" smtClean="0"/>
              <a:t>Identify opportunities for benefits</a:t>
            </a:r>
          </a:p>
          <a:p>
            <a:pPr lvl="1"/>
            <a:r>
              <a:rPr lang="en-US" dirty="0" smtClean="0"/>
              <a:t>Make changes to processes</a:t>
            </a:r>
          </a:p>
          <a:p>
            <a:pPr lvl="1"/>
            <a:r>
              <a:rPr lang="en-US" dirty="0" smtClean="0"/>
              <a:t>Make changes to behavior as a result</a:t>
            </a:r>
          </a:p>
          <a:p>
            <a:pPr lvl="1"/>
            <a:r>
              <a:rPr lang="en-US" dirty="0" smtClean="0"/>
              <a:t>Monitor improvement in relation to process and behavior changes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ORGANIZATIONAL READINESS</a:t>
            </a:r>
            <a:endParaRPr lang="en-US" dirty="0"/>
          </a:p>
        </p:txBody>
      </p:sp>
      <p:sp>
        <p:nvSpPr>
          <p:cNvPr id="3" name="Content Placeholder 2"/>
          <p:cNvSpPr>
            <a:spLocks noGrp="1"/>
          </p:cNvSpPr>
          <p:nvPr>
            <p:ph idx="1"/>
          </p:nvPr>
        </p:nvSpPr>
        <p:spPr/>
        <p:txBody>
          <a:bodyPr>
            <a:normAutofit/>
          </a:bodyPr>
          <a:lstStyle/>
          <a:p>
            <a:pPr algn="just"/>
            <a:r>
              <a:rPr lang="en-US" dirty="0" smtClean="0"/>
              <a:t>assess alignment between the objectives at different levels of management</a:t>
            </a:r>
          </a:p>
          <a:p>
            <a:pPr algn="just"/>
            <a:r>
              <a:rPr lang="en-US" dirty="0" smtClean="0"/>
              <a:t>recognize that their behavior is motivated by alternate factors.</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MANAGEMENT READINESS</a:t>
            </a:r>
            <a:endParaRPr lang="en-US" dirty="0"/>
          </a:p>
        </p:txBody>
      </p:sp>
      <p:sp>
        <p:nvSpPr>
          <p:cNvPr id="3" name="Content Placeholder 2"/>
          <p:cNvSpPr>
            <a:spLocks noGrp="1"/>
          </p:cNvSpPr>
          <p:nvPr>
            <p:ph idx="1"/>
          </p:nvPr>
        </p:nvSpPr>
        <p:spPr/>
        <p:txBody>
          <a:bodyPr/>
          <a:lstStyle/>
          <a:p>
            <a:r>
              <a:rPr lang="en-US" dirty="0" smtClean="0"/>
              <a:t>consider is the support of a program champion who can influence both upper management to gain their buy-in as well as stoking interest among the stakeholders who would either help fund the program or benefit from it.</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OPERATIONAL READINESS</a:t>
            </a:r>
            <a:endParaRPr lang="en-US" dirty="0"/>
          </a:p>
        </p:txBody>
      </p:sp>
      <p:sp>
        <p:nvSpPr>
          <p:cNvPr id="3" name="Content Placeholder 2"/>
          <p:cNvSpPr>
            <a:spLocks noGrp="1"/>
          </p:cNvSpPr>
          <p:nvPr>
            <p:ph idx="1"/>
          </p:nvPr>
        </p:nvSpPr>
        <p:spPr/>
        <p:txBody>
          <a:bodyPr/>
          <a:lstStyle/>
          <a:p>
            <a:r>
              <a:rPr lang="en-US" dirty="0" smtClean="0"/>
              <a:t>implies that engagement has been institutionalized: budgets have been allocated, skilled staff members have been hired, the customers and stakeholders have been engaged and trained</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PREPARING FOR CHANGE</a:t>
            </a:r>
            <a:endParaRPr lang="en-US" dirty="0"/>
          </a:p>
        </p:txBody>
      </p:sp>
      <p:sp>
        <p:nvSpPr>
          <p:cNvPr id="3" name="Content Placeholder 2"/>
          <p:cNvSpPr>
            <a:spLocks noGrp="1"/>
          </p:cNvSpPr>
          <p:nvPr>
            <p:ph idx="1"/>
          </p:nvPr>
        </p:nvSpPr>
        <p:spPr>
          <a:xfrm>
            <a:off x="457200" y="1600200"/>
            <a:ext cx="8229600" cy="5105400"/>
          </a:xfrm>
        </p:spPr>
        <p:txBody>
          <a:bodyPr>
            <a:normAutofit fontScale="85000" lnSpcReduction="20000"/>
          </a:bodyPr>
          <a:lstStyle/>
          <a:p>
            <a:pPr algn="just"/>
            <a:r>
              <a:rPr lang="en-US" dirty="0" smtClean="0"/>
              <a:t>Understanding the business problem by examining the core business challenges</a:t>
            </a:r>
          </a:p>
          <a:p>
            <a:pPr algn="just"/>
            <a:r>
              <a:rPr lang="en-US" dirty="0" smtClean="0"/>
              <a:t>Assessment and determining feasibility by considering the unknowns and seeing whether the methods of addressing the similar business problems can be adapted to this problem,</a:t>
            </a:r>
          </a:p>
          <a:p>
            <a:pPr algn="just"/>
            <a:r>
              <a:rPr lang="en-US" dirty="0" smtClean="0"/>
              <a:t>Planning to develop the analytical solution by performing a data requirements assessment, determining the tools and methodologies to be employed, conditions for success, and barriers to execution</a:t>
            </a:r>
          </a:p>
          <a:p>
            <a:pPr algn="just"/>
            <a:r>
              <a:rPr lang="en-US" dirty="0" smtClean="0"/>
              <a:t>Execution of the solution by engaging the team members, assigning their tasks, building the solution, and measuring improvement</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Initial Steps in Starting a Business Intelligence Program</a:t>
            </a:r>
            <a:endParaRPr lang="en-US" dirty="0"/>
          </a:p>
        </p:txBody>
      </p:sp>
      <p:sp>
        <p:nvSpPr>
          <p:cNvPr id="5" name="Subtitle 4"/>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Fundamental aspects of the BI program such as:</a:t>
            </a:r>
          </a:p>
          <a:p>
            <a:pPr lvl="1"/>
            <a:r>
              <a:rPr lang="en-US" b="1" dirty="0" smtClean="0"/>
              <a:t>Championship</a:t>
            </a:r>
            <a:r>
              <a:rPr lang="en-US" dirty="0" smtClean="0"/>
              <a:t>. Senior-level champions ensuring corporate sponsorship;</a:t>
            </a:r>
          </a:p>
          <a:p>
            <a:pPr lvl="1"/>
            <a:r>
              <a:rPr lang="en-US" b="1" dirty="0" smtClean="0"/>
              <a:t>Level-Setting</a:t>
            </a:r>
            <a:r>
              <a:rPr lang="en-US" dirty="0" smtClean="0"/>
              <a:t>. Establishing high-level goals and setting expectations;</a:t>
            </a:r>
          </a:p>
          <a:p>
            <a:pPr lvl="1"/>
            <a:r>
              <a:rPr lang="en-US" b="1" dirty="0" smtClean="0"/>
              <a:t>Partnering</a:t>
            </a:r>
            <a:r>
              <a:rPr lang="en-US" dirty="0" smtClean="0"/>
              <a:t>. Creating a partnership among the participants that provides incentives to act strategically;</a:t>
            </a:r>
          </a:p>
          <a:p>
            <a:pPr lvl="1"/>
            <a:r>
              <a:rPr lang="en-US" b="1" dirty="0" smtClean="0"/>
              <a:t>Vision</a:t>
            </a:r>
            <a:r>
              <a:rPr lang="en-US" dirty="0" smtClean="0"/>
              <a:t>. Asserting a strategic vision that guides design, development, and deployment;</a:t>
            </a:r>
          </a:p>
          <a:p>
            <a:pPr lvl="1"/>
            <a:r>
              <a:rPr lang="en-US" b="1" dirty="0" smtClean="0"/>
              <a:t>Plan</a:t>
            </a:r>
            <a:r>
              <a:rPr lang="en-US" dirty="0" smtClean="0"/>
              <a:t>. Establishing a plan that delivers intermediate value while achieving the long-term goals.</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1</a:t>
            </a:r>
            <a:r>
              <a:rPr lang="en-US" sz="3100" dirty="0" smtClean="0"/>
              <a:t>. CHAMPIONSHIP AND MANAGEMENTSPONSORSHIP</a:t>
            </a:r>
            <a:endParaRPr lang="en-US" dirty="0"/>
          </a:p>
        </p:txBody>
      </p:sp>
      <p:sp>
        <p:nvSpPr>
          <p:cNvPr id="3" name="Content Placeholder 2"/>
          <p:cNvSpPr>
            <a:spLocks noGrp="1"/>
          </p:cNvSpPr>
          <p:nvPr>
            <p:ph idx="1"/>
          </p:nvPr>
        </p:nvSpPr>
        <p:spPr/>
        <p:txBody>
          <a:bodyPr/>
          <a:lstStyle/>
          <a:p>
            <a:r>
              <a:rPr lang="en-US" dirty="0" smtClean="0"/>
              <a:t>the failure of a BI program is the lack of senior-level sponsorship. But what is meant by senior-level sponsorship.</a:t>
            </a:r>
          </a:p>
          <a:p>
            <a:r>
              <a:rPr lang="en-US" dirty="0" smtClean="0"/>
              <a:t>The first concept focuses on establishing a partnership with a senior-level manager </a:t>
            </a:r>
          </a:p>
          <a:p>
            <a:r>
              <a:rPr lang="en-US" dirty="0" smtClean="0"/>
              <a:t>The second concept focuses on the senior management’s establishing a vested stake in the success of the project.</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US" dirty="0" smtClean="0"/>
              <a:t>Bridging the Gaps between Information Technology and the Business Users</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457200" y="1600200"/>
            <a:ext cx="8229600" cy="5029200"/>
          </a:xfrm>
        </p:spPr>
        <p:txBody>
          <a:bodyPr>
            <a:normAutofit fontScale="85000" lnSpcReduction="10000"/>
          </a:bodyPr>
          <a:lstStyle/>
          <a:p>
            <a:r>
              <a:rPr lang="en-US" dirty="0" smtClean="0"/>
              <a:t>The evolution of </a:t>
            </a:r>
            <a:r>
              <a:rPr lang="en-US" b="1" dirty="0" smtClean="0"/>
              <a:t>technical resources </a:t>
            </a:r>
            <a:r>
              <a:rPr lang="en-US" dirty="0" smtClean="0"/>
              <a:t>are the success factors in gaining the best advantage from a BI and analytics program is establishing a partnership between the business users and the information technology team</a:t>
            </a:r>
          </a:p>
          <a:p>
            <a:r>
              <a:rPr lang="en-US" dirty="0" smtClean="0"/>
              <a:t>In the early days of computing, all technical/business analysts shared time on huge computers housed in separate rooms; the services provided were purely operational there were no BI applications at all.</a:t>
            </a:r>
          </a:p>
          <a:p>
            <a:r>
              <a:rPr lang="en-US" dirty="0" smtClean="0"/>
              <a:t>But as technology increasingly has become both smaller and more affordable, there are corresponding changes in connecting technology to the business.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DICHOTOMY</a:t>
            </a:r>
            <a:endParaRPr lang="en-US" dirty="0"/>
          </a:p>
        </p:txBody>
      </p:sp>
      <p:sp>
        <p:nvSpPr>
          <p:cNvPr id="3" name="Content Placeholder 2"/>
          <p:cNvSpPr>
            <a:spLocks noGrp="1"/>
          </p:cNvSpPr>
          <p:nvPr>
            <p:ph idx="1"/>
          </p:nvPr>
        </p:nvSpPr>
        <p:spPr/>
        <p:txBody>
          <a:bodyPr/>
          <a:lstStyle/>
          <a:p>
            <a:r>
              <a:rPr lang="en-US" dirty="0" smtClean="0"/>
              <a:t>There is a artificial boundary between those who require computer services and those who provide those services</a:t>
            </a:r>
          </a:p>
          <a:p>
            <a:r>
              <a:rPr lang="en-US" dirty="0" smtClean="0"/>
              <a:t>there is a greater need for both technicians to solve problems with computer use and those who can translate a business user’s problems into a collection of technical issues.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PARTNERING</a:t>
            </a:r>
            <a:endParaRPr lang="en-US" dirty="0"/>
          </a:p>
        </p:txBody>
      </p:sp>
      <p:sp>
        <p:nvSpPr>
          <p:cNvPr id="3" name="Content Placeholder 2"/>
          <p:cNvSpPr>
            <a:spLocks noGrp="1"/>
          </p:cNvSpPr>
          <p:nvPr>
            <p:ph idx="1"/>
          </p:nvPr>
        </p:nvSpPr>
        <p:spPr/>
        <p:txBody>
          <a:bodyPr/>
          <a:lstStyle/>
          <a:p>
            <a:r>
              <a:rPr lang="en-US" dirty="0" smtClean="0"/>
              <a:t>Fortunately, there is a growing knowledge overlap between the IT and business sides.</a:t>
            </a:r>
          </a:p>
          <a:p>
            <a:r>
              <a:rPr lang="en-US" dirty="0" smtClean="0"/>
              <a:t>As the relationships between business units and IT groups grow, we find that the IT side gradually learns more and more about how the business works and that the business side has a growing understanding of the capabilities and limitations of the technology.</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Knowing the Different Types of Business Intelligence Users</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t>ANALYTIC DATABASES AND INFORMATION CONSUMERS</a:t>
            </a:r>
            <a:endParaRPr lang="en-US" sz="3200" dirty="0"/>
          </a:p>
        </p:txBody>
      </p:sp>
      <p:sp>
        <p:nvSpPr>
          <p:cNvPr id="3" name="Content Placeholder 2"/>
          <p:cNvSpPr>
            <a:spLocks noGrp="1"/>
          </p:cNvSpPr>
          <p:nvPr>
            <p:ph idx="1"/>
          </p:nvPr>
        </p:nvSpPr>
        <p:spPr/>
        <p:txBody>
          <a:bodyPr/>
          <a:lstStyle/>
          <a:p>
            <a:r>
              <a:rPr lang="en-US" dirty="0" smtClean="0"/>
              <a:t>Power users</a:t>
            </a:r>
          </a:p>
          <a:p>
            <a:r>
              <a:rPr lang="en-US" dirty="0" smtClean="0"/>
              <a:t>Business users</a:t>
            </a:r>
          </a:p>
          <a:p>
            <a:r>
              <a:rPr lang="en-US" dirty="0" smtClean="0"/>
              <a:t>Casual users</a:t>
            </a:r>
          </a:p>
          <a:p>
            <a:r>
              <a:rPr lang="en-US" dirty="0" smtClean="0"/>
              <a:t>Data aggregators or Information providers</a:t>
            </a:r>
          </a:p>
          <a:p>
            <a:r>
              <a:rPr lang="en-US" dirty="0" smtClean="0"/>
              <a:t> Operational analytics users</a:t>
            </a:r>
          </a:p>
          <a:p>
            <a:r>
              <a:rPr lang="en-US" dirty="0" smtClean="0"/>
              <a:t>Extended enterprise users</a:t>
            </a:r>
          </a:p>
          <a:p>
            <a:r>
              <a:rPr lang="en-US" dirty="0" smtClean="0"/>
              <a:t>IT users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Business Intelligence Success Factors: A Deeper Dive</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 Strong, Dedicated Management</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Direct the process of engaging the right business side participants; </a:t>
            </a:r>
          </a:p>
          <a:p>
            <a:r>
              <a:rPr lang="en-US" dirty="0" smtClean="0"/>
              <a:t>Direct the solicitation of business user expectations and help translate those into specific requirements;</a:t>
            </a:r>
          </a:p>
          <a:p>
            <a:r>
              <a:rPr lang="en-US" dirty="0" smtClean="0"/>
              <a:t>Guide the definition of success and the associated metrics; </a:t>
            </a:r>
          </a:p>
          <a:p>
            <a:r>
              <a:rPr lang="en-US" dirty="0" smtClean="0"/>
              <a:t>Engage team members with the right skills and ensure proper training; </a:t>
            </a:r>
          </a:p>
          <a:p>
            <a:r>
              <a:rPr lang="en-US" dirty="0" smtClean="0"/>
              <a:t> Manage the knowledge and technology acquisition process;  </a:t>
            </a:r>
          </a:p>
          <a:p>
            <a:r>
              <a:rPr lang="en-US" dirty="0" smtClean="0"/>
              <a:t>Develop and manage a program plan; </a:t>
            </a:r>
          </a:p>
          <a:p>
            <a:r>
              <a:rPr lang="en-US" dirty="0" smtClean="0"/>
              <a:t> Manage program implementation; and </a:t>
            </a:r>
          </a:p>
          <a:p>
            <a:r>
              <a:rPr lang="en-US" dirty="0" smtClean="0"/>
              <a:t> Defuse any political time bombs.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Setting Appropriate Expectations</a:t>
            </a:r>
            <a:endParaRPr lang="en-US" dirty="0"/>
          </a:p>
        </p:txBody>
      </p:sp>
      <p:sp>
        <p:nvSpPr>
          <p:cNvPr id="3" name="Content Placeholder 2"/>
          <p:cNvSpPr>
            <a:spLocks noGrp="1"/>
          </p:cNvSpPr>
          <p:nvPr>
            <p:ph idx="1"/>
          </p:nvPr>
        </p:nvSpPr>
        <p:spPr>
          <a:xfrm>
            <a:off x="457200" y="1295400"/>
            <a:ext cx="8229600" cy="5562600"/>
          </a:xfrm>
        </p:spPr>
        <p:txBody>
          <a:bodyPr>
            <a:normAutofit/>
          </a:bodyPr>
          <a:lstStyle/>
          <a:p>
            <a:r>
              <a:rPr lang="en-US" dirty="0" smtClean="0"/>
              <a:t>Functionality</a:t>
            </a:r>
          </a:p>
          <a:p>
            <a:r>
              <a:rPr lang="en-US" dirty="0" smtClean="0"/>
              <a:t>Accessibility</a:t>
            </a:r>
          </a:p>
          <a:p>
            <a:r>
              <a:rPr lang="en-US" dirty="0" smtClean="0"/>
              <a:t> Performance</a:t>
            </a:r>
          </a:p>
          <a:p>
            <a:r>
              <a:rPr lang="en-US" dirty="0" smtClean="0"/>
              <a:t>Delivery</a:t>
            </a:r>
          </a:p>
          <a:p>
            <a:r>
              <a:rPr lang="en-US" dirty="0" smtClean="0"/>
              <a:t>Quality</a:t>
            </a:r>
          </a:p>
          <a:p>
            <a:r>
              <a:rPr lang="en-US" dirty="0" smtClean="0"/>
              <a:t>Business relevance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Establishing Metrics for Success</a:t>
            </a:r>
            <a:endParaRPr lang="en-US" dirty="0"/>
          </a:p>
        </p:txBody>
      </p:sp>
      <p:sp>
        <p:nvSpPr>
          <p:cNvPr id="3" name="Content Placeholder 2"/>
          <p:cNvSpPr>
            <a:spLocks noGrp="1"/>
          </p:cNvSpPr>
          <p:nvPr>
            <p:ph idx="1"/>
          </p:nvPr>
        </p:nvSpPr>
        <p:spPr/>
        <p:txBody>
          <a:bodyPr/>
          <a:lstStyle/>
          <a:p>
            <a:r>
              <a:rPr lang="en-US" dirty="0" smtClean="0"/>
              <a:t>Functionality</a:t>
            </a:r>
          </a:p>
          <a:p>
            <a:r>
              <a:rPr lang="en-US" dirty="0" smtClean="0"/>
              <a:t>Accessibility</a:t>
            </a:r>
          </a:p>
          <a:p>
            <a:r>
              <a:rPr lang="en-US" dirty="0" smtClean="0"/>
              <a:t>Performance</a:t>
            </a:r>
          </a:p>
          <a:p>
            <a:r>
              <a:rPr lang="en-US" dirty="0" smtClean="0"/>
              <a:t>Delivery</a:t>
            </a:r>
          </a:p>
          <a:p>
            <a:r>
              <a:rPr lang="en-US" dirty="0" smtClean="0"/>
              <a:t>Quality</a:t>
            </a:r>
          </a:p>
          <a:p>
            <a:r>
              <a:rPr lang="en-US" dirty="0" smtClean="0"/>
              <a:t>Availability</a:t>
            </a:r>
          </a:p>
          <a:p>
            <a:r>
              <a:rPr lang="en-US" dirty="0" smtClean="0"/>
              <a:t>Business relevance</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Strategic Versus Tactical Planning</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tactical plan answers "how do we achieve our strategic </a:t>
            </a:r>
            <a:r>
              <a:rPr lang="en-US" dirty="0" smtClean="0"/>
              <a:t>plan?“</a:t>
            </a:r>
          </a:p>
          <a:p>
            <a:r>
              <a:rPr lang="en-US" dirty="0" smtClean="0"/>
              <a:t> It </a:t>
            </a:r>
            <a:r>
              <a:rPr lang="en-US" dirty="0" smtClean="0"/>
              <a:t>outlines actions to achieve short-term goals, generally within a year or less. </a:t>
            </a:r>
            <a:endParaRPr lang="en-US" dirty="0" smtClean="0"/>
          </a:p>
          <a:p>
            <a:r>
              <a:rPr lang="en-US" dirty="0" smtClean="0"/>
              <a:t>They </a:t>
            </a:r>
            <a:r>
              <a:rPr lang="en-US" dirty="0" smtClean="0"/>
              <a:t>are much narrower in focus and can be broken down into the departmental or unit level.</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4525963"/>
          </a:xfrm>
        </p:spPr>
        <p:txBody>
          <a:bodyPr/>
          <a:lstStyle/>
          <a:p>
            <a:r>
              <a:rPr lang="en-US" dirty="0" smtClean="0"/>
              <a:t>Strategic planning lays out the long-term, broad goals that a business or individual wants to achieve. </a:t>
            </a:r>
            <a:endParaRPr lang="en-US" dirty="0" smtClean="0"/>
          </a:p>
          <a:p>
            <a:r>
              <a:rPr lang="en-US" dirty="0" smtClean="0"/>
              <a:t>And </a:t>
            </a:r>
            <a:r>
              <a:rPr lang="en-US" dirty="0" smtClean="0"/>
              <a:t>tactical planning outlines the short-term steps and actions that should be taken to achieve the goals described in the strategic plan.</a:t>
            </a:r>
            <a:endParaRPr lang="en-US" dirty="0"/>
          </a:p>
        </p:txBody>
      </p:sp>
      <p:sp>
        <p:nvSpPr>
          <p:cNvPr id="1026" name="AutoShape 2" descr="data:image/png;base64,iVBORw0KGgoAAAANSUhEUgAAATEAAAClCAMAAAADOzq7AAAAe1BMVEXz8/P////y8vLDw8MAAAD7+/uMjIympqZ7e3ubm5tQUFA2NjaHh4fp6emwsLAxMTEbGxvb29vh4eHs7OzR0dHX19fl5eW1tbXIyMi7u7uUlJRfX1+Li4tpaWlXV1dKSkpycnJ/f387OztBQUEpKSkYGBgiIiJsbGwODg5d7I9TAAAJ8ElEQVR4nO2cjXqjKBtAfUVEjGL5FfE/pknv/wo/TNvZnX02M3E2tZ35OI1NYisvHhFR0CgKBAKBQCAQCAQCgUAgEAgEAoFAIBAIBAKBQCAQCAQCgUAgEAgEAoFAIPBngv1r5f2r/3T9sr5/dOj3qPgt7uvHrw02TamQtX7CEVgQCCGOkIWoQRFSAn1gaI4skrHyqhpl/GeNOKgm/riIDyE+2WORTR0daQ46QalNGpeoqTzZrGkLNX3cNscFeSKMJhgn+jg2SUMS3hUk++KlDB8vMbgUbEsKKFgPkPgXEXUOERZj95FbHOsDBpc16ggAxsetdCXgiwvzuSbn1RjKFwUDXXUBTlTcjLCk0Kfwkcp0hdUl6/UJMPbG8IkfNXxgvIcgzuQCU4vpqJaigDNViREJmWzrcouHD9wp/daqX0SreMLzYhZNYnhiWe7oFy9kOOaAjYlKg2NRRqUnlqUwGHiJ49J8aPDSSCOliYEbKEsZmxIk/+LCvgxf/QgZCAQCgUAAR/Gu4E8N+wjiJdkV+nZ2s3NY8riTqvLMd9zUEZteT0Djg9kzrD+ve1jTt3ySsCMsezNWxXuGfayxcs+sB2NbCca2Eoxt5fOM3acDIMKAsV8Erx+iGK8LXue8N1D+b4zdVcZKR5RwtmGMsghRUkKTKuCpVZQQ/O/GDEUQj+L9awQ9L/N5/di03+dCH6Jvn8XylorM19/jzaz/3BhmJHb/fvzubNT2w3ezIsjxzWB/ca8xqNizTsqGkZa0/MTGeoiSMpEDJCW9VcZyJcmiJeUKEaMT62DoWW0biM9knRdZvyipQbMkElRaPwcEq4yhBljNCTDGKSgqVUNMxNBWY0AnqHwi0BC/W7BGIyZ8wqApp3LqG7KmDZgwLKkii3LAqeENuf7TfzQWQ85O5iW2dT3MTBxIdqmhJ9NJQUL4jTIGvR6akQ+sUgd64RUclHO6kgTkWR3VybEcTZwkUSL9hM7NIS1xZU+iYgeaTiJRGY0SnPCjOLE+pWyzMVJAXk9EnzoKzOf7uRmaKUfHmswNS8Gn3TAou1YPtaun9XuZQIJGltIHGHMlJKuxdlDiCUFGvUTNfYBIxreMqcW0amFI97bnB8g1pXBoMchDdEQD2N70rHuK1kQSi1APEJ/iUZ0alPlzkQSKU5nET1CJXLTRpf1+p7nH2AxLVFTNaDXE88hz2boeKb+nF4hRSOST/yfvUI1mTS6RFfi84AVnx+hWmvfulfHZYciyyRSDWsiTwmKkAz7XrUhIK/7dWHmoXZbXNKP1AS3mGR3JpV3XAmzVTagyUZsxMh1V605qKggZfTazebFFQVVeoKQuLjYRrSvswX+n82Zj+kgJ6tro4BSwNOOneRZ5WrYza13XqqQcCwTMVxW0J+pkX0TvJp6UJ+b6m1Xa3cZKrwVEjI3BkSnLCGMN61RKYW7slZGUUIIEg2OJS4illH7BWfuShCXEpV9R4yt4HPn/iUH4OWs2pf/xRwtfcNclIxmtf5H4OnOrMYj8QsLXYeuyAvOjz2DkJwHXvFzTfo1osF8T/53DNa/i9jFg9/aYr/cfxPbWBaL/tP4LhBbsVoKxrQRjWwnGthKMbeU3vgZbfzN2s7X5EXT3Xru4x9hzjfbDFu/X+f0pwo5h+wcai6Z8T8b6teWM9w2bNw/sfsM787lhH8GOnWDXjrDPiftAYbtWwPDXtd9PCvsAMOnSHSk0/oyw3QPHgJZJ4fbLuWvfj5VP+wX1YcdHti7OuzYlm/f22OGey/MPIw1t/o2Es6StBGNbCca2Eoxt5R5jeB0+8Mo6hOD1Hf/t/Tcxhq+9Iv+VO8Zd4GnKrB4b0rk+a8AMsZv6yQ2IX6bajEq1cqMx0po1/2/r4ddXlbC9hbDVWD1n+rRej8LXYM3rhN8j35uBO8oYuDROIClto9omB9YyrUcpEnhSkMBwiibYaEwvXtI0l33XQ5HlGCeFmYqynVzW9Wl2Z963GhuRjpfZQXGxLMtZosAmuplIM7XskhU9+3kSK3cZm6/966i2p0FBRka/ynjtyDaQxBO5ZFuNrZ3SI8/sKM7RSCnAM5+n0S5ItmhRlbkvla3G+NiXI8ptbgY0cP4CYF4gcQd+KM2IBnt7TMx33GMs7ZTXwxmyg0vFrJ4EP2Bf7Jba/xpgvGw2tgAb1KSW+IyHwu8oiSo6ER8EDGrRH2QMF5Cr0Y4q5y0awO8j6z28L1bzA8jRtvpxxnDadRLs7DCdTZcymbFm4naycVFwc5Hy1mio2+s6E1o6Gs/IoSE7+hkpnimfUJQ11Dp1ZyobyxhzjS/XRUk6Xmcl+CoZMqSKGmVS+fmquC+Ze46V8DrK7jrkDuB6gHx7rVP0n46Vqvcr/mt84dbF662b8ev099c/7un8pdZF/Mu9KV/Z2J189fbYYwjGthKMbSUY20owtpXHGts16/UfcNU6SemO9N96RtyeYZdHjiKoya68977tHPaRT2D5pO78Twr7CPbtzY8/Oewj2LMChj9hFEHksl1Bb/XYzmHtA0cRvLA9h7590oi7Nozq3EgX2vwbCWdJWwnGthKMbSUY28oWY6AslkoIrbXSXGlQWir/rm7dw3sLYyW60WEUk7tX/z5j2mLyfXeeYOu1jlqbf3Tp1tqnyX8a9u6nN/iWIs1IK58QyuZ+6mk71/0Ey0TPKdpmzOZsqHswEmLuV3rNJNdRLPxbjJ8E/nmur9xljBQzuTDgGIwAud6ginUS+RC0EA0urzef4tjgUgDJSigciAjkj27D3FDGcMKh0jkXFOYU0Exc6mAEW707v9fYxAA3GbqMpshcfRw4tKTiY0FQMa59rfS+Dsu7jCX+b1ntukOc9bbIW4lH9xLlRVG7ukXPZqbzoM49S3uG8okQWs+VaukPUtxo7KBGYdzV2EJwRmFZjW3cK/02h6bILp3qikKvj76Y0vWpGbl1JzGKbrmvkN1vrKlooee+IakvxlVc2WfqaqcWeGr0kBb8gGXRO9TZgpG+mE3e/uAa5QZj4DIyQN+5BoYW3BIDGZsMaCI3ljFb1ZQObGC6ci1bTxSKDoklpZfiBT2TrLj96ITNxmhfNzktClaPrZv91okqmuiK2K4lCbgzFDPTCbfHKXN5RrKJ9czO7Q+22aaaXyuMseI44hxzHUdrtYoF32oMSit9rSI0CClK7s9xzvqpLDVEvJQ8Fo+sx4BbzA0oAVwa46szkLyMI+ujlBxjv7WUiLgEXpYi9hkSoDXoB9VjP+XXWxc0vf0Mk5v8Bq2LjzP2SwRjWwnGthKMbSUY28ofYSw83XSrMbFjT1hEvhkzO4bF8wONyfGwJ5V7y/p43DHqsXrgU5r37pvGnxo2EAgEAoFAIBAIBAKBQCAQCAQCgUAgEAgEAoFAIBAIBAKBwBb+BynmKHNPEt8G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data:image/png;base64,iVBORw0KGgoAAAANSUhEUgAAATEAAAClCAMAAAADOzq7AAAAe1BMVEXz8/P////y8vLDw8MAAAD7+/uMjIympqZ7e3ubm5tQUFA2NjaHh4fp6emwsLAxMTEbGxvb29vh4eHs7OzR0dHX19fl5eW1tbXIyMi7u7uUlJRfX1+Li4tpaWlXV1dKSkpycnJ/f387OztBQUEpKSkYGBgiIiJsbGwODg5d7I9TAAAJ8ElEQVR4nO2cjXqjKBtAfUVEjGL5FfE/pknv/wo/TNvZnX02M3E2tZ35OI1NYisvHhFR0CgKBAKBQCAQCAQCgUAgEAgEAoFAIBAIBAKBQCAQCAQCgUAgEAgEAoFAIPBngv1r5f2r/3T9sr5/dOj3qPgt7uvHrw02TamQtX7CEVgQCCGOkIWoQRFSAn1gaI4skrHyqhpl/GeNOKgm/riIDyE+2WORTR0daQ46QalNGpeoqTzZrGkLNX3cNscFeSKMJhgn+jg2SUMS3hUk++KlDB8vMbgUbEsKKFgPkPgXEXUOERZj95FbHOsDBpc16ggAxsetdCXgiwvzuSbn1RjKFwUDXXUBTlTcjLCk0Kfwkcp0hdUl6/UJMPbG8IkfNXxgvIcgzuQCU4vpqJaigDNViREJmWzrcouHD9wp/daqX0SreMLzYhZNYnhiWe7oFy9kOOaAjYlKg2NRRqUnlqUwGHiJ49J8aPDSSCOliYEbKEsZmxIk/+LCvgxf/QgZCAQCgUAAR/Gu4E8N+wjiJdkV+nZ2s3NY8riTqvLMd9zUEZteT0Djg9kzrD+ve1jTt3ySsCMsezNWxXuGfayxcs+sB2NbCca2Eoxt5fOM3acDIMKAsV8Erx+iGK8LXue8N1D+b4zdVcZKR5RwtmGMsghRUkKTKuCpVZQQ/O/GDEUQj+L9awQ9L/N5/di03+dCH6Jvn8XylorM19/jzaz/3BhmJHb/fvzubNT2w3ezIsjxzWB/ca8xqNizTsqGkZa0/MTGeoiSMpEDJCW9VcZyJcmiJeUKEaMT62DoWW0biM9knRdZvyipQbMkElRaPwcEq4yhBljNCTDGKSgqVUNMxNBWY0AnqHwi0BC/W7BGIyZ8wqApp3LqG7KmDZgwLKkii3LAqeENuf7TfzQWQ85O5iW2dT3MTBxIdqmhJ9NJQUL4jTIGvR6akQ+sUgd64RUclHO6kgTkWR3VybEcTZwkUSL9hM7NIS1xZU+iYgeaTiJRGY0SnPCjOLE+pWyzMVJAXk9EnzoKzOf7uRmaKUfHmswNS8Gn3TAou1YPtaun9XuZQIJGltIHGHMlJKuxdlDiCUFGvUTNfYBIxreMqcW0amFI97bnB8g1pXBoMchDdEQD2N70rHuK1kQSi1APEJ/iUZ0alPlzkQSKU5nET1CJXLTRpf1+p7nH2AxLVFTNaDXE88hz2boeKb+nF4hRSOST/yfvUI1mTS6RFfi84AVnx+hWmvfulfHZYciyyRSDWsiTwmKkAz7XrUhIK/7dWHmoXZbXNKP1AS3mGR3JpV3XAmzVTagyUZsxMh1V605qKggZfTazebFFQVVeoKQuLjYRrSvswX+n82Zj+kgJ6tro4BSwNOOneRZ5WrYza13XqqQcCwTMVxW0J+pkX0TvJp6UJ+b6m1Xa3cZKrwVEjI3BkSnLCGMN61RKYW7slZGUUIIEg2OJS4illH7BWfuShCXEpV9R4yt4HPn/iUH4OWs2pf/xRwtfcNclIxmtf5H4OnOrMYj8QsLXYeuyAvOjz2DkJwHXvFzTfo1osF8T/53DNa/i9jFg9/aYr/cfxPbWBaL/tP4LhBbsVoKxrQRjWwnGthKMbeU3vgZbfzN2s7X5EXT3Xru4x9hzjfbDFu/X+f0pwo5h+wcai6Z8T8b6teWM9w2bNw/sfsM787lhH8GOnWDXjrDPiftAYbtWwPDXtd9PCvsAMOnSHSk0/oyw3QPHgJZJ4fbLuWvfj5VP+wX1YcdHti7OuzYlm/f22OGey/MPIw1t/o2Es6StBGNbCca2Eoxt5R5jeB0+8Mo6hOD1Hf/t/Tcxhq+9Iv+VO8Zd4GnKrB4b0rk+a8AMsZv6yQ2IX6bajEq1cqMx0po1/2/r4ddXlbC9hbDVWD1n+rRej8LXYM3rhN8j35uBO8oYuDROIClto9omB9YyrUcpEnhSkMBwiibYaEwvXtI0l33XQ5HlGCeFmYqynVzW9Wl2Z963GhuRjpfZQXGxLMtZosAmuplIM7XskhU9+3kSK3cZm6/966i2p0FBRka/ynjtyDaQxBO5ZFuNrZ3SI8/sKM7RSCnAM5+n0S5ItmhRlbkvla3G+NiXI8ptbgY0cP4CYF4gcQd+KM2IBnt7TMx33GMs7ZTXwxmyg0vFrJ4EP2Bf7Jba/xpgvGw2tgAb1KSW+IyHwu8oiSo6ER8EDGrRH2QMF5Cr0Y4q5y0awO8j6z28L1bzA8jRtvpxxnDadRLs7DCdTZcymbFm4naycVFwc5Hy1mio2+s6E1o6Gs/IoSE7+hkpnimfUJQ11Dp1ZyobyxhzjS/XRUk6Xmcl+CoZMqSKGmVS+fmquC+Ze46V8DrK7jrkDuB6gHx7rVP0n46Vqvcr/mt84dbF662b8ev099c/7un8pdZF/Mu9KV/Z2J189fbYYwjGthKMbSUY20owtpXHGts16/UfcNU6SemO9N96RtyeYZdHjiKoya68977tHPaRT2D5pO78Twr7CPbtzY8/Oewj2LMChj9hFEHksl1Bb/XYzmHtA0cRvLA9h7590oi7Nozq3EgX2vwbCWdJWwnGthKMbSUY28oWY6AslkoIrbXSXGlQWir/rm7dw3sLYyW60WEUk7tX/z5j2mLyfXeeYOu1jlqbf3Tp1tqnyX8a9u6nN/iWIs1IK58QyuZ+6mk71/0Ey0TPKdpmzOZsqHswEmLuV3rNJNdRLPxbjJ8E/nmur9xljBQzuTDgGIwAud6ginUS+RC0EA0urzef4tjgUgDJSigciAjkj27D3FDGcMKh0jkXFOYU0Exc6mAEW707v9fYxAA3GbqMpshcfRw4tKTiY0FQMa59rfS+Dsu7jCX+b1ntukOc9bbIW4lH9xLlRVG7ukXPZqbzoM49S3uG8okQWs+VaukPUtxo7KBGYdzV2EJwRmFZjW3cK/02h6bILp3qikKvj76Y0vWpGbl1JzGKbrmvkN1vrKlooee+IakvxlVc2WfqaqcWeGr0kBb8gGXRO9TZgpG+mE3e/uAa5QZj4DIyQN+5BoYW3BIDGZsMaCI3ljFb1ZQObGC6ci1bTxSKDoklpZfiBT2TrLj96ITNxmhfNzktClaPrZv91okqmuiK2K4lCbgzFDPTCbfHKXN5RrKJ9czO7Q+22aaaXyuMseI44hxzHUdrtYoF32oMSit9rSI0CClK7s9xzvqpLDVEvJQ8Fo+sx4BbzA0oAVwa46szkLyMI+ujlBxjv7WUiLgEXpYi9hkSoDXoB9VjP+XXWxc0vf0Mk5v8Bq2LjzP2SwRjWwnGthKMbSUY28ofYSw83XSrMbFjT1hEvhkzO4bF8wONyfGwJ5V7y/p43DHqsXrgU5r37pvGnxo2EAgEAoFAIBAIBAKBQCAQCAQCgUAgEAgEAoFAIBAIBAKBwBb+BynmKHNPEt8G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0" name="Picture 6" descr="Strategic vs. Tactical Planning: The What, When, &amp; Why"/>
          <p:cNvPicPr>
            <a:picLocks noChangeAspect="1" noChangeArrowheads="1"/>
          </p:cNvPicPr>
          <p:nvPr/>
        </p:nvPicPr>
        <p:blipFill>
          <a:blip r:embed="rId3"/>
          <a:srcRect/>
          <a:stretch>
            <a:fillRect/>
          </a:stretch>
        </p:blipFill>
        <p:spPr bwMode="auto">
          <a:xfrm>
            <a:off x="2362200" y="3638549"/>
            <a:ext cx="5934075" cy="3219451"/>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Strategic vs Tactical Marketing | Marketing plan, P's of marketing,  Emotional intelligence quotes"/>
          <p:cNvPicPr>
            <a:picLocks noChangeAspect="1" noChangeArrowheads="1"/>
          </p:cNvPicPr>
          <p:nvPr/>
        </p:nvPicPr>
        <p:blipFill>
          <a:blip r:embed="rId2"/>
          <a:srcRect/>
          <a:stretch>
            <a:fillRect/>
          </a:stretch>
        </p:blipFill>
        <p:spPr bwMode="auto">
          <a:xfrm>
            <a:off x="500319" y="838200"/>
            <a:ext cx="7513685" cy="50292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If BI program failures are attributable to incomplete requirements and missed expectations, then to succeed, we must strike a balance between aiming to meet the long-term desires while satisfying the clients’ immediate needs in the short term.</a:t>
            </a:r>
          </a:p>
          <a:p>
            <a:r>
              <a:rPr lang="en-US" dirty="0" smtClean="0"/>
              <a:t>Long-Term Goals</a:t>
            </a:r>
          </a:p>
          <a:p>
            <a:r>
              <a:rPr lang="en-US" dirty="0" smtClean="0"/>
              <a:t>Short-Term Success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Developing Your Business Intelligence Roadmap</a:t>
            </a:r>
            <a:endParaRPr lang="en-US" dirty="0"/>
          </a:p>
        </p:txBody>
      </p:sp>
      <p:sp>
        <p:nvSpPr>
          <p:cNvPr id="3" name="Content Placeholder 2"/>
          <p:cNvSpPr>
            <a:spLocks noGrp="1"/>
          </p:cNvSpPr>
          <p:nvPr>
            <p:ph idx="1"/>
          </p:nvPr>
        </p:nvSpPr>
        <p:spPr/>
        <p:txBody>
          <a:bodyPr/>
          <a:lstStyle/>
          <a:p>
            <a:r>
              <a:rPr lang="en-US" dirty="0" smtClean="0"/>
              <a:t>Business Intelligence Strategy: Vision to Blueprint</a:t>
            </a:r>
          </a:p>
          <a:p>
            <a:r>
              <a:rPr lang="en-US" dirty="0" smtClean="0"/>
              <a:t>The Business Intelligence Roadmap: Example Phasing</a:t>
            </a:r>
          </a:p>
          <a:p>
            <a:r>
              <a:rPr lang="en-US" dirty="0" smtClean="0"/>
              <a:t>Planning the Business Intelligence Plan</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455</TotalTime>
  <Words>947</Words>
  <Application>Microsoft Office PowerPoint</Application>
  <PresentationFormat>On-screen Show (4:3)</PresentationFormat>
  <Paragraphs>95</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Planning for Success</vt:lpstr>
      <vt:lpstr>Introduction</vt:lpstr>
      <vt:lpstr>Organizational Preparedness for Business Intelligence and Analytics</vt:lpstr>
      <vt:lpstr>Organizational Preparedness for Business Intelligence and Analytics</vt:lpstr>
      <vt:lpstr>1. ORGANIZATIONAL READINESS</vt:lpstr>
      <vt:lpstr>2. MANAGEMENT READINESS</vt:lpstr>
      <vt:lpstr>3. OPERATIONAL READINESS</vt:lpstr>
      <vt:lpstr>4. PREPARING FOR CHANGE</vt:lpstr>
      <vt:lpstr>Initial Steps in Starting a Business Intelligence Program</vt:lpstr>
      <vt:lpstr>Slide 10</vt:lpstr>
      <vt:lpstr>1. CHAMPIONSHIP AND MANAGEMENTSPONSORSHIP</vt:lpstr>
      <vt:lpstr>Bridging the Gaps between Information Technology and the Business Users</vt:lpstr>
      <vt:lpstr>Introduction</vt:lpstr>
      <vt:lpstr>1. DICHOTOMY</vt:lpstr>
      <vt:lpstr>2. PARTNERING</vt:lpstr>
      <vt:lpstr>Knowing the Different Types of Business Intelligence Users</vt:lpstr>
      <vt:lpstr>ANALYTIC DATABASES AND INFORMATION CONSUMERS</vt:lpstr>
      <vt:lpstr>Business Intelligence Success Factors: A Deeper Dive</vt:lpstr>
      <vt:lpstr>1. Strong, Dedicated Management</vt:lpstr>
      <vt:lpstr>2. Setting Appropriate Expectations</vt:lpstr>
      <vt:lpstr>3. Establishing Metrics for Success</vt:lpstr>
      <vt:lpstr>Strategic Versus Tactical Planning</vt:lpstr>
      <vt:lpstr>Slide 23</vt:lpstr>
      <vt:lpstr>Slide 24</vt:lpstr>
      <vt:lpstr>Slide 25</vt:lpstr>
      <vt:lpstr>Introduction</vt:lpstr>
      <vt:lpstr>Developing Your Business Intelligence Roadmap</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Planning for Success</dc:title>
  <dc:creator>APSSDC</dc:creator>
  <cp:lastModifiedBy>jaya</cp:lastModifiedBy>
  <cp:revision>54</cp:revision>
  <dcterms:created xsi:type="dcterms:W3CDTF">2006-08-16T00:00:00Z</dcterms:created>
  <dcterms:modified xsi:type="dcterms:W3CDTF">2023-02-14T04:28:44Z</dcterms:modified>
</cp:coreProperties>
</file>